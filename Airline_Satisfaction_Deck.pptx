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73378733-51A5-5ECB-17A5-2B65578DF073}">
          <p14:sldIdLst>
            <p14:sldId id="256"/>
            <p14:sldId id="257"/>
            <p14:sldId id="258"/>
          </p14:sldIdLst>
        </p14:section>
        <p14:section name="Findings" id="{26A237FF-CEB9-8ADE-3E3C-9687610F3173}">
          <p14:sldIdLst>
            <p14:sldId id="259"/>
            <p14:sldId id="260"/>
            <p14:sldId id="261"/>
            <p14:sldId id="262"/>
            <p14:sldId id="263"/>
            <p14:sldId id="264"/>
          </p14:sldIdLst>
        </p14:section>
        <p14:section name="Wrap-up" id="{7E4CAE5E-B986-7D06-0D51-4CD321C73303}">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Passengers</c:v>
                </c:pt>
              </c:strCache>
            </c:strRef>
          </c:tx>
          <c:spPr>
            <a:solidFill>
              <a:schemeClr val="accent1"/>
            </a:solidFill>
            <a:ln w="9525" cap="flat">
              <a:solidFill>
                <a:srgbClr val="F9F9F9"/>
              </a:solidFill>
              <a:prstDash val="solid"/>
              <a:round/>
            </a:ln>
            <a:effectLst/>
          </c:spPr>
          <c:dPt>
            <c:idx val="0"/>
            <c:bubble3D val="0"/>
            <c:spPr>
              <a:solidFill>
                <a:srgbClr val="0F9D8C"/>
              </a:solidFill>
              <a:ln w="25400" cap="flat">
                <a:solidFill>
                  <a:srgbClr val="FFFFFF"/>
                </a:solidFill>
                <a:prstDash val="solid"/>
                <a:round/>
              </a:ln>
              <a:effectLst/>
            </c:spPr>
            <c:extLst>
              <c:ext xmlns:c16="http://schemas.microsoft.com/office/drawing/2014/chart" uri="{C3380CC4-5D6E-409C-BE32-E72D297353CC}">
                <c16:uniqueId val="{00000001-CB4D-45C6-BBA0-DDB404416D76}"/>
              </c:ext>
            </c:extLst>
          </c:dPt>
          <c:dPt>
            <c:idx val="1"/>
            <c:bubble3D val="0"/>
            <c:spPr>
              <a:solidFill>
                <a:srgbClr val="FF5A3C"/>
              </a:solidFill>
              <a:ln w="25400" cap="flat">
                <a:solidFill>
                  <a:srgbClr val="FFFFFF"/>
                </a:solidFill>
                <a:prstDash val="solid"/>
                <a:round/>
              </a:ln>
              <a:effectLst/>
            </c:spPr>
            <c:extLst>
              <c:ext xmlns:c16="http://schemas.microsoft.com/office/drawing/2014/chart" uri="{C3380CC4-5D6E-409C-BE32-E72D297353CC}">
                <c16:uniqueId val="{00000003-CB4D-45C6-BBA0-DDB404416D76}"/>
              </c:ext>
            </c:extLst>
          </c:dPt>
          <c:dLbls>
            <c:dLbl>
              <c:idx val="0"/>
              <c:numFmt formatCode="0%" sourceLinked="0"/>
              <c:spPr/>
              <c:txPr>
                <a:bodyPr/>
                <a:lstStyle/>
                <a:p>
                  <a:pPr>
                    <a:defRPr sz="14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B4D-45C6-BBA0-DDB404416D76}"/>
                </c:ext>
              </c:extLst>
            </c:dLbl>
            <c:dLbl>
              <c:idx val="1"/>
              <c:numFmt formatCode="0%" sourceLinked="0"/>
              <c:spPr/>
              <c:txPr>
                <a:bodyPr/>
                <a:lstStyle/>
                <a:p>
                  <a:pPr>
                    <a:defRPr sz="14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B4D-45C6-BBA0-DDB404416D76}"/>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Satisfied</c:v>
                </c:pt>
                <c:pt idx="1">
                  <c:v>Neutral or dissatisfied</c:v>
                </c:pt>
              </c:strCache>
            </c:strRef>
          </c:cat>
          <c:val>
            <c:numRef>
              <c:f>Sheet1!$B$2:$B$3</c:f>
              <c:numCache>
                <c:formatCode>General</c:formatCode>
                <c:ptCount val="2"/>
                <c:pt idx="0">
                  <c:v>11365</c:v>
                </c:pt>
                <c:pt idx="1">
                  <c:v>14528</c:v>
                </c:pt>
              </c:numCache>
            </c:numRef>
          </c:val>
          <c:extLst>
            <c:ext xmlns:c16="http://schemas.microsoft.com/office/drawing/2014/chart" uri="{C3380CC4-5D6E-409C-BE32-E72D297353CC}">
              <c16:uniqueId val="{00000004-CB4D-45C6-BBA0-DDB404416D76}"/>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txPr>
        <a:bodyPr/>
        <a:lstStyle/>
        <a:p>
          <a:pPr>
            <a:defRPr sz="1200">
              <a:solidFill>
                <a:srgbClr val="2B315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Average rating</c:v>
                </c:pt>
              </c:strCache>
            </c:strRef>
          </c:tx>
          <c:spPr>
            <a:solidFill>
              <a:srgbClr val="FF5A3C"/>
            </a:solidFill>
            <a:effectLst/>
          </c:spPr>
          <c:invertIfNegative val="0"/>
          <c:dPt>
            <c:idx val="0"/>
            <c:invertIfNegative val="0"/>
            <c:bubble3D val="0"/>
            <c:spPr>
              <a:solidFill>
                <a:srgbClr val="FF5A3C"/>
              </a:solidFill>
              <a:effectLst/>
            </c:spPr>
            <c:extLst>
              <c:ext xmlns:c16="http://schemas.microsoft.com/office/drawing/2014/chart" uri="{C3380CC4-5D6E-409C-BE32-E72D297353CC}">
                <c16:uniqueId val="{00000001-9AC9-4494-B96A-8B932182BA85}"/>
              </c:ext>
            </c:extLst>
          </c:dPt>
          <c:dPt>
            <c:idx val="1"/>
            <c:invertIfNegative val="0"/>
            <c:bubble3D val="0"/>
            <c:spPr>
              <a:solidFill>
                <a:srgbClr val="FF5A3C"/>
              </a:solidFill>
              <a:effectLst/>
            </c:spPr>
            <c:extLst>
              <c:ext xmlns:c16="http://schemas.microsoft.com/office/drawing/2014/chart" uri="{C3380CC4-5D6E-409C-BE32-E72D297353CC}">
                <c16:uniqueId val="{00000003-9AC9-4494-B96A-8B932182BA85}"/>
              </c:ext>
            </c:extLst>
          </c:dPt>
          <c:dPt>
            <c:idx val="2"/>
            <c:invertIfNegative val="0"/>
            <c:bubble3D val="0"/>
            <c:spPr>
              <a:solidFill>
                <a:srgbClr val="8C9EFF"/>
              </a:solidFill>
              <a:effectLst/>
            </c:spPr>
            <c:extLst>
              <c:ext xmlns:c16="http://schemas.microsoft.com/office/drawing/2014/chart" uri="{C3380CC4-5D6E-409C-BE32-E72D297353CC}">
                <c16:uniqueId val="{00000005-9AC9-4494-B96A-8B932182BA85}"/>
              </c:ext>
            </c:extLst>
          </c:dPt>
          <c:dPt>
            <c:idx val="3"/>
            <c:invertIfNegative val="0"/>
            <c:bubble3D val="0"/>
            <c:spPr>
              <a:solidFill>
                <a:srgbClr val="8C9EFF"/>
              </a:solidFill>
              <a:effectLst/>
            </c:spPr>
            <c:extLst>
              <c:ext xmlns:c16="http://schemas.microsoft.com/office/drawing/2014/chart" uri="{C3380CC4-5D6E-409C-BE32-E72D297353CC}">
                <c16:uniqueId val="{00000007-9AC9-4494-B96A-8B932182BA85}"/>
              </c:ext>
            </c:extLst>
          </c:dPt>
          <c:dPt>
            <c:idx val="4"/>
            <c:invertIfNegative val="0"/>
            <c:bubble3D val="0"/>
            <c:spPr>
              <a:solidFill>
                <a:srgbClr val="8C9EFF"/>
              </a:solidFill>
              <a:effectLst/>
            </c:spPr>
            <c:extLst>
              <c:ext xmlns:c16="http://schemas.microsoft.com/office/drawing/2014/chart" uri="{C3380CC4-5D6E-409C-BE32-E72D297353CC}">
                <c16:uniqueId val="{00000009-9AC9-4494-B96A-8B932182BA85}"/>
              </c:ext>
            </c:extLst>
          </c:dPt>
          <c:dPt>
            <c:idx val="5"/>
            <c:invertIfNegative val="0"/>
            <c:bubble3D val="0"/>
            <c:spPr>
              <a:solidFill>
                <a:srgbClr val="8C9EFF"/>
              </a:solidFill>
              <a:effectLst/>
            </c:spPr>
            <c:extLst>
              <c:ext xmlns:c16="http://schemas.microsoft.com/office/drawing/2014/chart" uri="{C3380CC4-5D6E-409C-BE32-E72D297353CC}">
                <c16:uniqueId val="{0000000B-9AC9-4494-B96A-8B932182BA85}"/>
              </c:ext>
            </c:extLst>
          </c:dPt>
          <c:dPt>
            <c:idx val="6"/>
            <c:invertIfNegative val="0"/>
            <c:bubble3D val="0"/>
            <c:spPr>
              <a:solidFill>
                <a:srgbClr val="8C9EFF"/>
              </a:solidFill>
              <a:effectLst/>
            </c:spPr>
            <c:extLst>
              <c:ext xmlns:c16="http://schemas.microsoft.com/office/drawing/2014/chart" uri="{C3380CC4-5D6E-409C-BE32-E72D297353CC}">
                <c16:uniqueId val="{0000000D-9AC9-4494-B96A-8B932182BA85}"/>
              </c:ext>
            </c:extLst>
          </c:dPt>
          <c:dPt>
            <c:idx val="7"/>
            <c:invertIfNegative val="0"/>
            <c:bubble3D val="0"/>
            <c:spPr>
              <a:solidFill>
                <a:srgbClr val="8C9EFF"/>
              </a:solidFill>
              <a:effectLst/>
            </c:spPr>
            <c:extLst>
              <c:ext xmlns:c16="http://schemas.microsoft.com/office/drawing/2014/chart" uri="{C3380CC4-5D6E-409C-BE32-E72D297353CC}">
                <c16:uniqueId val="{0000000F-9AC9-4494-B96A-8B932182BA85}"/>
              </c:ext>
            </c:extLst>
          </c:dPt>
          <c:dPt>
            <c:idx val="8"/>
            <c:invertIfNegative val="0"/>
            <c:bubble3D val="0"/>
            <c:spPr>
              <a:solidFill>
                <a:srgbClr val="8C9EFF"/>
              </a:solidFill>
              <a:effectLst/>
            </c:spPr>
            <c:extLst>
              <c:ext xmlns:c16="http://schemas.microsoft.com/office/drawing/2014/chart" uri="{C3380CC4-5D6E-409C-BE32-E72D297353CC}">
                <c16:uniqueId val="{00000011-9AC9-4494-B96A-8B932182BA85}"/>
              </c:ext>
            </c:extLst>
          </c:dPt>
          <c:dPt>
            <c:idx val="9"/>
            <c:invertIfNegative val="0"/>
            <c:bubble3D val="0"/>
            <c:spPr>
              <a:solidFill>
                <a:srgbClr val="8C9EFF"/>
              </a:solidFill>
              <a:effectLst/>
            </c:spPr>
            <c:extLst>
              <c:ext xmlns:c16="http://schemas.microsoft.com/office/drawing/2014/chart" uri="{C3380CC4-5D6E-409C-BE32-E72D297353CC}">
                <c16:uniqueId val="{00000013-9AC9-4494-B96A-8B932182BA85}"/>
              </c:ext>
            </c:extLst>
          </c:dPt>
          <c:dPt>
            <c:idx val="10"/>
            <c:invertIfNegative val="0"/>
            <c:bubble3D val="0"/>
            <c:spPr>
              <a:solidFill>
                <a:srgbClr val="8C9EFF"/>
              </a:solidFill>
              <a:effectLst/>
            </c:spPr>
            <c:extLst>
              <c:ext xmlns:c16="http://schemas.microsoft.com/office/drawing/2014/chart" uri="{C3380CC4-5D6E-409C-BE32-E72D297353CC}">
                <c16:uniqueId val="{00000015-9AC9-4494-B96A-8B932182BA85}"/>
              </c:ext>
            </c:extLst>
          </c:dPt>
          <c:dPt>
            <c:idx val="11"/>
            <c:invertIfNegative val="0"/>
            <c:bubble3D val="0"/>
            <c:spPr>
              <a:solidFill>
                <a:srgbClr val="8C9EFF"/>
              </a:solidFill>
              <a:effectLst/>
            </c:spPr>
            <c:extLst>
              <c:ext xmlns:c16="http://schemas.microsoft.com/office/drawing/2014/chart" uri="{C3380CC4-5D6E-409C-BE32-E72D297353CC}">
                <c16:uniqueId val="{00000017-9AC9-4494-B96A-8B932182BA85}"/>
              </c:ext>
            </c:extLst>
          </c:dPt>
          <c:dPt>
            <c:idx val="12"/>
            <c:invertIfNegative val="0"/>
            <c:bubble3D val="0"/>
            <c:spPr>
              <a:solidFill>
                <a:srgbClr val="0F9D8C"/>
              </a:solidFill>
              <a:effectLst/>
            </c:spPr>
            <c:extLst>
              <c:ext xmlns:c16="http://schemas.microsoft.com/office/drawing/2014/chart" uri="{C3380CC4-5D6E-409C-BE32-E72D297353CC}">
                <c16:uniqueId val="{00000019-9AC9-4494-B96A-8B932182BA85}"/>
              </c:ext>
            </c:extLst>
          </c:dPt>
          <c:dPt>
            <c:idx val="13"/>
            <c:invertIfNegative val="0"/>
            <c:bubble3D val="0"/>
            <c:spPr>
              <a:solidFill>
                <a:srgbClr val="0F9D8C"/>
              </a:solidFill>
              <a:effectLst/>
            </c:spPr>
            <c:extLst>
              <c:ext xmlns:c16="http://schemas.microsoft.com/office/drawing/2014/chart" uri="{C3380CC4-5D6E-409C-BE32-E72D297353CC}">
                <c16:uniqueId val="{0000001B-9AC9-4494-B96A-8B932182BA85}"/>
              </c:ext>
            </c:extLst>
          </c:dPt>
          <c:dLbls>
            <c:numFmt formatCode="0.00" sourceLinked="0"/>
            <c:spPr>
              <a:noFill/>
              <a:ln>
                <a:noFill/>
              </a:ln>
              <a:effectLst/>
            </c:spPr>
            <c:txPr>
              <a:bodyPr/>
              <a:lstStyle/>
              <a:p>
                <a:pPr>
                  <a:defRPr sz="1000" b="0" i="0" u="none" strike="noStrike">
                    <a:solidFill>
                      <a:srgbClr val="2B315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Inflight Wi-Fi</c:v>
                </c:pt>
                <c:pt idx="1">
                  <c:v>Online booking</c:v>
                </c:pt>
                <c:pt idx="2">
                  <c:v>Gate location</c:v>
                </c:pt>
                <c:pt idx="3">
                  <c:v>Dep./arr. time</c:v>
                </c:pt>
                <c:pt idx="4">
                  <c:v>Food and drink</c:v>
                </c:pt>
                <c:pt idx="5">
                  <c:v>Online boarding</c:v>
                </c:pt>
                <c:pt idx="6">
                  <c:v>Cleanliness</c:v>
                </c:pt>
                <c:pt idx="7">
                  <c:v>Check-in</c:v>
                </c:pt>
                <c:pt idx="8">
                  <c:v>Leg room</c:v>
                </c:pt>
                <c:pt idx="9">
                  <c:v>Entertainment</c:v>
                </c:pt>
                <c:pt idx="10">
                  <c:v>On-board service</c:v>
                </c:pt>
                <c:pt idx="11">
                  <c:v>Seat comfort</c:v>
                </c:pt>
                <c:pt idx="12">
                  <c:v>Baggage handling</c:v>
                </c:pt>
                <c:pt idx="13">
                  <c:v>Inflight service</c:v>
                </c:pt>
              </c:strCache>
            </c:strRef>
          </c:cat>
          <c:val>
            <c:numRef>
              <c:f>Sheet1!$B$2:$B$15</c:f>
              <c:numCache>
                <c:formatCode>General</c:formatCode>
                <c:ptCount val="14"/>
                <c:pt idx="0">
                  <c:v>2.72</c:v>
                </c:pt>
                <c:pt idx="1">
                  <c:v>2.76</c:v>
                </c:pt>
                <c:pt idx="2">
                  <c:v>2.98</c:v>
                </c:pt>
                <c:pt idx="3">
                  <c:v>3.05</c:v>
                </c:pt>
                <c:pt idx="4">
                  <c:v>3.21</c:v>
                </c:pt>
                <c:pt idx="5">
                  <c:v>3.26</c:v>
                </c:pt>
                <c:pt idx="6">
                  <c:v>3.29</c:v>
                </c:pt>
                <c:pt idx="7">
                  <c:v>3.31</c:v>
                </c:pt>
                <c:pt idx="8">
                  <c:v>3.35</c:v>
                </c:pt>
                <c:pt idx="9">
                  <c:v>3.36</c:v>
                </c:pt>
                <c:pt idx="10">
                  <c:v>3.39</c:v>
                </c:pt>
                <c:pt idx="11">
                  <c:v>3.45</c:v>
                </c:pt>
                <c:pt idx="12">
                  <c:v>3.63</c:v>
                </c:pt>
                <c:pt idx="13">
                  <c:v>3.65</c:v>
                </c:pt>
              </c:numCache>
            </c:numRef>
          </c:val>
          <c:extLst>
            <c:ext xmlns:c16="http://schemas.microsoft.com/office/drawing/2014/chart" uri="{C3380CC4-5D6E-409C-BE32-E72D297353CC}">
              <c16:uniqueId val="{0000001C-9AC9-4494-B96A-8B932182BA85}"/>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3156"/>
                </a:solidFill>
                <a:latin typeface="+mn-lt"/>
              </a:defRPr>
            </a:pPr>
            <a:endParaRPr lang="en-US"/>
          </a:p>
        </c:txPr>
        <c:crossAx val="2094734552"/>
        <c:crosses val="autoZero"/>
        <c:auto val="1"/>
        <c:lblAlgn val="ctr"/>
        <c:lblOffset val="100"/>
        <c:noMultiLvlLbl val="1"/>
      </c:catAx>
      <c:valAx>
        <c:axId val="2094734552"/>
        <c:scaling>
          <c:orientation val="minMax"/>
          <c:max val="4.4000000000000004"/>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Satisfied %</c:v>
                </c:pt>
              </c:strCache>
            </c:strRef>
          </c:tx>
          <c:spPr>
            <a:solidFill>
              <a:srgbClr val="FFB020"/>
            </a:solidFill>
            <a:effectLst/>
          </c:spPr>
          <c:invertIfNegative val="0"/>
          <c:dPt>
            <c:idx val="0"/>
            <c:invertIfNegative val="0"/>
            <c:bubble3D val="0"/>
            <c:spPr>
              <a:solidFill>
                <a:srgbClr val="FFB020"/>
              </a:solidFill>
              <a:effectLst/>
            </c:spPr>
            <c:extLst>
              <c:ext xmlns:c16="http://schemas.microsoft.com/office/drawing/2014/chart" uri="{C3380CC4-5D6E-409C-BE32-E72D297353CC}">
                <c16:uniqueId val="{00000001-980A-4A8E-9688-FDDFF78F968F}"/>
              </c:ext>
            </c:extLst>
          </c:dPt>
          <c:dPt>
            <c:idx val="1"/>
            <c:invertIfNegative val="0"/>
            <c:bubble3D val="0"/>
            <c:spPr>
              <a:solidFill>
                <a:srgbClr val="FFD98A"/>
              </a:solidFill>
              <a:effectLst/>
            </c:spPr>
            <c:extLst>
              <c:ext xmlns:c16="http://schemas.microsoft.com/office/drawing/2014/chart" uri="{C3380CC4-5D6E-409C-BE32-E72D297353CC}">
                <c16:uniqueId val="{00000003-980A-4A8E-9688-FDDFF78F968F}"/>
              </c:ext>
            </c:extLst>
          </c:dPt>
          <c:dPt>
            <c:idx val="2"/>
            <c:invertIfNegative val="0"/>
            <c:bubble3D val="0"/>
            <c:spPr>
              <a:solidFill>
                <a:srgbClr val="0F9D8C"/>
              </a:solidFill>
              <a:effectLst/>
            </c:spPr>
            <c:extLst>
              <c:ext xmlns:c16="http://schemas.microsoft.com/office/drawing/2014/chart" uri="{C3380CC4-5D6E-409C-BE32-E72D297353CC}">
                <c16:uniqueId val="{00000005-980A-4A8E-9688-FDDFF78F968F}"/>
              </c:ext>
            </c:extLst>
          </c:dPt>
          <c:dPt>
            <c:idx val="3"/>
            <c:invertIfNegative val="0"/>
            <c:bubble3D val="0"/>
            <c:spPr>
              <a:solidFill>
                <a:srgbClr val="7FD3C8"/>
              </a:solidFill>
              <a:effectLst/>
            </c:spPr>
            <c:extLst>
              <c:ext xmlns:c16="http://schemas.microsoft.com/office/drawing/2014/chart" uri="{C3380CC4-5D6E-409C-BE32-E72D297353CC}">
                <c16:uniqueId val="{00000007-980A-4A8E-9688-FDDFF78F968F}"/>
              </c:ext>
            </c:extLst>
          </c:dPt>
          <c:dLbls>
            <c:numFmt formatCode="0.0&quot;%&quot;" sourceLinked="0"/>
            <c:spPr>
              <a:noFill/>
              <a:ln>
                <a:noFill/>
              </a:ln>
              <a:effectLst/>
            </c:spPr>
            <c:txPr>
              <a:bodyPr/>
              <a:lstStyle/>
              <a:p>
                <a:pPr>
                  <a:defRPr sz="1200" b="1" i="0" u="none" strike="noStrike">
                    <a:solidFill>
                      <a:srgbClr val="2B315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Loyal</c:v>
                </c:pt>
                <c:pt idx="1">
                  <c:v>Disloyal</c:v>
                </c:pt>
                <c:pt idx="2">
                  <c:v>Business trip</c:v>
                </c:pt>
                <c:pt idx="3">
                  <c:v>Personal trip</c:v>
                </c:pt>
              </c:strCache>
            </c:strRef>
          </c:cat>
          <c:val>
            <c:numRef>
              <c:f>Sheet1!$B$2:$B$5</c:f>
              <c:numCache>
                <c:formatCode>General</c:formatCode>
                <c:ptCount val="4"/>
                <c:pt idx="0">
                  <c:v>48.1</c:v>
                </c:pt>
                <c:pt idx="1">
                  <c:v>25.2</c:v>
                </c:pt>
                <c:pt idx="2">
                  <c:v>58.8</c:v>
                </c:pt>
                <c:pt idx="3">
                  <c:v>10</c:v>
                </c:pt>
              </c:numCache>
            </c:numRef>
          </c:val>
          <c:extLst>
            <c:ext xmlns:c16="http://schemas.microsoft.com/office/drawing/2014/chart" uri="{C3380CC4-5D6E-409C-BE32-E72D297353CC}">
              <c16:uniqueId val="{00000008-980A-4A8E-9688-FDDFF78F968F}"/>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156"/>
                </a:solidFill>
                <a:latin typeface="+mn-lt"/>
              </a:defRPr>
            </a:pPr>
            <a:endParaRPr lang="en-US"/>
          </a:p>
        </c:txPr>
        <c:crossAx val="2094734552"/>
        <c:crosses val="autoZero"/>
        <c:auto val="1"/>
        <c:lblAlgn val="ctr"/>
        <c:lblOffset val="100"/>
        <c:noMultiLvlLbl val="1"/>
      </c:catAx>
      <c:valAx>
        <c:axId val="2094734552"/>
        <c:scaling>
          <c:orientation val="minMax"/>
          <c:max val="7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Correlation</c:v>
                </c:pt>
              </c:strCache>
            </c:strRef>
          </c:tx>
          <c:spPr>
            <a:solidFill>
              <a:srgbClr val="FF5A3C"/>
            </a:solidFill>
            <a:effectLst/>
          </c:spPr>
          <c:invertIfNegative val="0"/>
          <c:dPt>
            <c:idx val="0"/>
            <c:invertIfNegative val="0"/>
            <c:bubble3D val="0"/>
            <c:extLst>
              <c:ext xmlns:c16="http://schemas.microsoft.com/office/drawing/2014/chart" uri="{C3380CC4-5D6E-409C-BE32-E72D297353CC}">
                <c16:uniqueId val="{00000001-A16F-4792-9972-E0A56CDAAF2B}"/>
              </c:ext>
            </c:extLst>
          </c:dPt>
          <c:dPt>
            <c:idx val="1"/>
            <c:invertIfNegative val="0"/>
            <c:bubble3D val="0"/>
            <c:spPr>
              <a:solidFill>
                <a:srgbClr val="8C9EFF"/>
              </a:solidFill>
              <a:effectLst/>
            </c:spPr>
            <c:extLst>
              <c:ext xmlns:c16="http://schemas.microsoft.com/office/drawing/2014/chart" uri="{C3380CC4-5D6E-409C-BE32-E72D297353CC}">
                <c16:uniqueId val="{00000003-A16F-4792-9972-E0A56CDAAF2B}"/>
              </c:ext>
            </c:extLst>
          </c:dPt>
          <c:dPt>
            <c:idx val="2"/>
            <c:invertIfNegative val="0"/>
            <c:bubble3D val="0"/>
            <c:spPr>
              <a:solidFill>
                <a:srgbClr val="8C9EFF"/>
              </a:solidFill>
              <a:effectLst/>
            </c:spPr>
            <c:extLst>
              <c:ext xmlns:c16="http://schemas.microsoft.com/office/drawing/2014/chart" uri="{C3380CC4-5D6E-409C-BE32-E72D297353CC}">
                <c16:uniqueId val="{00000005-A16F-4792-9972-E0A56CDAAF2B}"/>
              </c:ext>
            </c:extLst>
          </c:dPt>
          <c:dPt>
            <c:idx val="3"/>
            <c:invertIfNegative val="0"/>
            <c:bubble3D val="0"/>
            <c:spPr>
              <a:solidFill>
                <a:srgbClr val="8C9EFF"/>
              </a:solidFill>
              <a:effectLst/>
            </c:spPr>
            <c:extLst>
              <c:ext xmlns:c16="http://schemas.microsoft.com/office/drawing/2014/chart" uri="{C3380CC4-5D6E-409C-BE32-E72D297353CC}">
                <c16:uniqueId val="{00000007-A16F-4792-9972-E0A56CDAAF2B}"/>
              </c:ext>
            </c:extLst>
          </c:dPt>
          <c:dPt>
            <c:idx val="4"/>
            <c:invertIfNegative val="0"/>
            <c:bubble3D val="0"/>
            <c:spPr>
              <a:solidFill>
                <a:srgbClr val="8C9EFF"/>
              </a:solidFill>
              <a:effectLst/>
            </c:spPr>
            <c:extLst>
              <c:ext xmlns:c16="http://schemas.microsoft.com/office/drawing/2014/chart" uri="{C3380CC4-5D6E-409C-BE32-E72D297353CC}">
                <c16:uniqueId val="{00000009-A16F-4792-9972-E0A56CDAAF2B}"/>
              </c:ext>
            </c:extLst>
          </c:dPt>
          <c:dPt>
            <c:idx val="5"/>
            <c:invertIfNegative val="0"/>
            <c:bubble3D val="0"/>
            <c:spPr>
              <a:solidFill>
                <a:srgbClr val="8C9EFF"/>
              </a:solidFill>
              <a:effectLst/>
            </c:spPr>
            <c:extLst>
              <c:ext xmlns:c16="http://schemas.microsoft.com/office/drawing/2014/chart" uri="{C3380CC4-5D6E-409C-BE32-E72D297353CC}">
                <c16:uniqueId val="{0000000B-A16F-4792-9972-E0A56CDAAF2B}"/>
              </c:ext>
            </c:extLst>
          </c:dPt>
          <c:dLbls>
            <c:numFmt formatCode="0.00" sourceLinked="0"/>
            <c:spPr>
              <a:noFill/>
              <a:ln>
                <a:noFill/>
              </a:ln>
              <a:effectLst/>
            </c:spPr>
            <c:txPr>
              <a:bodyPr/>
              <a:lstStyle/>
              <a:p>
                <a:pPr>
                  <a:defRPr sz="1200" b="1" i="0" u="none" strike="noStrike">
                    <a:solidFill>
                      <a:srgbClr val="2B315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Online boarding</c:v>
                </c:pt>
                <c:pt idx="1">
                  <c:v>Inflight entertainment</c:v>
                </c:pt>
                <c:pt idx="2">
                  <c:v>Seat comfort</c:v>
                </c:pt>
                <c:pt idx="3">
                  <c:v>On-board service</c:v>
                </c:pt>
                <c:pt idx="4">
                  <c:v>Cleanliness</c:v>
                </c:pt>
                <c:pt idx="5">
                  <c:v>Leg room</c:v>
                </c:pt>
              </c:strCache>
            </c:strRef>
          </c:cat>
          <c:val>
            <c:numRef>
              <c:f>Sheet1!$B$2:$B$7</c:f>
              <c:numCache>
                <c:formatCode>General</c:formatCode>
                <c:ptCount val="6"/>
                <c:pt idx="0">
                  <c:v>0.49</c:v>
                </c:pt>
                <c:pt idx="1">
                  <c:v>0.4</c:v>
                </c:pt>
                <c:pt idx="2">
                  <c:v>0.35</c:v>
                </c:pt>
                <c:pt idx="3">
                  <c:v>0.32</c:v>
                </c:pt>
                <c:pt idx="4">
                  <c:v>0.31</c:v>
                </c:pt>
                <c:pt idx="5">
                  <c:v>0.31</c:v>
                </c:pt>
              </c:numCache>
            </c:numRef>
          </c:val>
          <c:extLst>
            <c:ext xmlns:c16="http://schemas.microsoft.com/office/drawing/2014/chart" uri="{C3380CC4-5D6E-409C-BE32-E72D297353CC}">
              <c16:uniqueId val="{0000000C-A16F-4792-9972-E0A56CDAAF2B}"/>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3156"/>
                </a:solidFill>
                <a:latin typeface="+mn-lt"/>
              </a:defRPr>
            </a:pPr>
            <a:endParaRPr lang="en-US"/>
          </a:p>
        </c:txPr>
        <c:crossAx val="2094734552"/>
        <c:crosses val="autoZero"/>
        <c:auto val="1"/>
        <c:lblAlgn val="ctr"/>
        <c:lblOffset val="100"/>
        <c:noMultiLvlLbl val="1"/>
      </c:catAx>
      <c:valAx>
        <c:axId val="2094734552"/>
        <c:scaling>
          <c:orientation val="minMax"/>
          <c:max val="0.6"/>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490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exploratory analysis of an airline passenger satisfaction survey (25,893 usable responses after cleaning). The ticket motif carries through the deck: data goes from raw CSV to business insight.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25,976 raw rows. Only 83 were missing Arrival Delay and no duplicates were found, so the data is in good shape. Each row covers passenger profile, trip details, 14 service ratings, delays and the satisfaction label.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cleaning steps: drop the leftover index column, remove the 83 rows missing Arrival Delay, convert Arrival Delay to integer, and create Average_Service_Rating as the mean of the 14 service columns (rounded to 1 decimal).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split 43.9% satisfied vs 56.1% neutral or dissatisfied. That is a balanced enough split for modelling and a clear sign the airline has room to improve.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rating per service, sorted. Digital touchpoints (Wi-Fi and online booking) are the weakest; people-facing inflight service and baggage handling are the strongest. Even the best service only reaches 3.65 out of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Satisfaction rate by travel class. Business: 69.5%, Eco Plus: 24.8%, Economy: 19.4%. The gap is huge, and average service ratings follow the same order for Business versus the other two classes.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Loyal customers are satisfied 48.1% of the time vs 25.2% for disloyal ones. Business trips: 58.8% vs just 10.0% on personal trips. Gender makes almost no difference.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violin plot in the notebook shows satisfied passengers rate services higher on average (3.61 vs 2.96). As an extra step, correlating each rating with the satisfied label shows online boarding is the strongest driver (0.49), followed by inflight entertainment (0.40) and seat comfort (0.35). Gate location and departure/arrival time convenience show roughly zero relationship.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Departure and arrival delays are almost perfectly correlated (r = 0.96) as the scatter plot in the notebook shows. As an extra check, passengers with arrival delay above 15 minutes are satisfied 36.8% of the time vs 46.0% for the rest: a real but modest gap compared with class or travel purpose.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four data-backed priorities: digital touchpoints, online boarding, the Economy cabin, and personal-trip and disloyal customers.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133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4480560" cy="1737360"/>
          </a:xfrm>
          <a:prstGeom prst="rect">
            <a:avLst/>
          </a:prstGeom>
          <a:noFill/>
          <a:ln/>
        </p:spPr>
        <p:txBody>
          <a:bodyPr wrap="square" rtlCol="0"/>
          <a:lstStyle>
            <a:lvl1pPr marL="0" indent="0">
              <a:buNone/>
              <a:defRPr lang="en-US" sz="4200" b="1" dirty="0">
                <a:solidFill>
                  <a:schemeClr val="bg1"/>
                </a:solidFill>
              </a:defRPr>
            </a:lvl1pPr>
          </a:lstStyle>
          <a:p>
            <a:pPr marL="0" indent="0">
              <a:buNone/>
            </a:pPr>
            <a:endParaRPr lang="en-US" sz="4200" dirty="0"/>
          </a:p>
        </p:txBody>
      </p:sp>
      <p:sp>
        <p:nvSpPr>
          <p:cNvPr id="3" name="Text 0"/>
          <p:cNvSpPr>
            <a:spLocks noGrp="1"/>
          </p:cNvSpPr>
          <p:nvPr>
            <p:ph type="body" idx="101" hasCustomPrompt="1"/>
          </p:nvPr>
        </p:nvSpPr>
        <p:spPr>
          <a:xfrm>
            <a:off x="548640" y="3108960"/>
            <a:ext cx="4206240" cy="822960"/>
          </a:xfrm>
          <a:prstGeom prst="rect">
            <a:avLst/>
          </a:prstGeom>
          <a:noFill/>
          <a:ln/>
        </p:spPr>
        <p:txBody>
          <a:bodyPr wrap="square" rtlCol="0"/>
          <a:lstStyle>
            <a:lvl1pPr marL="0" indent="0">
              <a:buNone/>
              <a:defRPr lang="en-US" sz="1600" dirty="0">
                <a:solidFill>
                  <a:schemeClr val="accent4"/>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E133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txBox="1"/>
          <p:nvPr/>
        </p:nvSpPr>
        <p:spPr>
          <a:xfrm>
            <a:off x="457200" y="4709160"/>
            <a:ext cx="5486400" cy="274320"/>
          </a:xfrm>
          <a:prstGeom prst="rect">
            <a:avLst/>
          </a:prstGeom>
          <a:noFill/>
          <a:ln/>
        </p:spPr>
        <p:txBody>
          <a:bodyPr wrap="square" lIns="0" tIns="0" rIns="0" bIns="0" rtlCol="0" anchor="ctr"/>
          <a:lstStyle/>
          <a:p>
            <a:pPr marL="0" indent="0">
              <a:buNone/>
            </a:pPr>
            <a:r>
              <a:rPr lang="en-US" sz="1000" kern="0" spc="200" dirty="0">
                <a:solidFill>
                  <a:schemeClr val="accent4"/>
                </a:solidFill>
              </a:rPr>
              <a:t>AIRLINE CUSTOMER SATISFACTION  ·  25,893 PASSENGERS</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1471448"/>
            <a:ext cx="4480560" cy="2497048"/>
          </a:xfrm>
          <a:prstGeom prst="rect">
            <a:avLst/>
          </a:prstGeom>
          <a:noFill/>
          <a:ln/>
        </p:spPr>
        <p:txBody>
          <a:bodyPr wrap="square" lIns="0" tIns="0" rIns="0" bIns="0" rtlCol="0" anchor="t"/>
          <a:lstStyle/>
          <a:p>
            <a:r>
              <a:rPr lang="en-IN" dirty="0"/>
              <a:t>Airline Customer Satisfaction </a:t>
            </a:r>
            <a:endParaRPr lang="en-US" sz="4200" dirty="0"/>
          </a:p>
        </p:txBody>
      </p:sp>
      <p:sp>
        <p:nvSpPr>
          <p:cNvPr id="5" name="Text 3"/>
          <p:cNvSpPr txBox="1"/>
          <p:nvPr/>
        </p:nvSpPr>
        <p:spPr>
          <a:xfrm>
            <a:off x="548640" y="4434840"/>
            <a:ext cx="4114800" cy="274320"/>
          </a:xfrm>
          <a:prstGeom prst="rect">
            <a:avLst/>
          </a:prstGeom>
          <a:noFill/>
          <a:ln/>
        </p:spPr>
        <p:txBody>
          <a:bodyPr wrap="square" lIns="0" tIns="0" rIns="0" bIns="0" rtlCol="0" anchor="t"/>
          <a:lstStyle/>
          <a:p>
            <a:pPr marL="0" indent="0">
              <a:buNone/>
            </a:pPr>
            <a:r>
              <a:rPr lang="en-US" sz="1200" kern="0" spc="200" dirty="0">
                <a:solidFill>
                  <a:schemeClr val="accent4"/>
                </a:solidFill>
              </a:rPr>
              <a:t>Python  -  pandas  ,  seaborn , matplotlib</a:t>
            </a:r>
            <a:endParaRPr lang="en-US" sz="1200" dirty="0"/>
          </a:p>
        </p:txBody>
      </p:sp>
      <p:sp>
        <p:nvSpPr>
          <p:cNvPr id="6" name="Ticket card"/>
          <p:cNvSpPr/>
          <p:nvPr/>
        </p:nvSpPr>
        <p:spPr>
          <a:xfrm>
            <a:off x="5257800" y="731520"/>
            <a:ext cx="3429000" cy="3291840"/>
          </a:xfrm>
          <a:prstGeom prst="roundRect">
            <a:avLst>
              <a:gd name="adj" fmla="val 3333"/>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7" name="Text 5"/>
          <p:cNvSpPr txBox="1"/>
          <p:nvPr/>
        </p:nvSpPr>
        <p:spPr>
          <a:xfrm>
            <a:off x="5486400" y="841248"/>
            <a:ext cx="212598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BOARDING PASS</a:t>
            </a:r>
            <a:endParaRPr lang="en-US" sz="1000" dirty="0"/>
          </a:p>
        </p:txBody>
      </p:sp>
      <p:sp>
        <p:nvSpPr>
          <p:cNvPr id="8" name="Text 6"/>
          <p:cNvSpPr txBox="1"/>
          <p:nvPr/>
        </p:nvSpPr>
        <p:spPr>
          <a:xfrm>
            <a:off x="7315200" y="841248"/>
            <a:ext cx="1143000" cy="256032"/>
          </a:xfrm>
          <a:prstGeom prst="rect">
            <a:avLst/>
          </a:prstGeom>
          <a:noFill/>
          <a:ln/>
        </p:spPr>
        <p:txBody>
          <a:bodyPr wrap="square" lIns="0" tIns="0" rIns="0" bIns="0" rtlCol="0" anchor="ctr"/>
          <a:lstStyle/>
          <a:p>
            <a:pPr marL="0" indent="0" algn="r">
              <a:buNone/>
            </a:pPr>
            <a:r>
              <a:rPr lang="en-US" sz="1000" b="1" kern="0" spc="300" dirty="0">
                <a:solidFill>
                  <a:schemeClr val="accent5"/>
                </a:solidFill>
              </a:rPr>
              <a:t>CSAT-25893</a:t>
            </a:r>
            <a:endParaRPr lang="en-US" sz="1000" dirty="0"/>
          </a:p>
        </p:txBody>
      </p:sp>
      <p:sp>
        <p:nvSpPr>
          <p:cNvPr id="9" name="Perforation"/>
          <p:cNvSpPr/>
          <p:nvPr/>
        </p:nvSpPr>
        <p:spPr>
          <a:xfrm>
            <a:off x="5440680" y="1207008"/>
            <a:ext cx="3063240" cy="0"/>
          </a:xfrm>
          <a:prstGeom prst="line">
            <a:avLst/>
          </a:prstGeom>
          <a:noFill/>
          <a:ln w="15875">
            <a:solidFill>
              <a:srgbClr val="C9CEE3"/>
            </a:solidFill>
            <a:prstDash val="dash"/>
          </a:ln>
        </p:spPr>
        <p:txBody>
          <a:bodyPr/>
          <a:lstStyle/>
          <a:p>
            <a:endParaRPr lang="en-IN"/>
          </a:p>
        </p:txBody>
      </p:sp>
      <p:sp>
        <p:nvSpPr>
          <p:cNvPr id="10" name="Notch left"/>
          <p:cNvSpPr/>
          <p:nvPr/>
        </p:nvSpPr>
        <p:spPr>
          <a:xfrm>
            <a:off x="5129784" y="1078992"/>
            <a:ext cx="256032" cy="256032"/>
          </a:xfrm>
          <a:prstGeom prst="ellipse">
            <a:avLst/>
          </a:prstGeom>
          <a:solidFill>
            <a:schemeClr val="tx1"/>
          </a:solidFill>
          <a:ln w="12700">
            <a:solidFill>
              <a:schemeClr val="tx1"/>
            </a:solidFill>
            <a:prstDash val="solid"/>
          </a:ln>
        </p:spPr>
        <p:txBody>
          <a:bodyPr/>
          <a:lstStyle/>
          <a:p>
            <a:endParaRPr lang="en-IN"/>
          </a:p>
        </p:txBody>
      </p:sp>
      <p:sp>
        <p:nvSpPr>
          <p:cNvPr id="11" name="Notch right"/>
          <p:cNvSpPr/>
          <p:nvPr/>
        </p:nvSpPr>
        <p:spPr>
          <a:xfrm>
            <a:off x="8558784" y="1078992"/>
            <a:ext cx="256032" cy="256032"/>
          </a:xfrm>
          <a:prstGeom prst="ellipse">
            <a:avLst/>
          </a:prstGeom>
          <a:solidFill>
            <a:schemeClr val="tx1"/>
          </a:solidFill>
          <a:ln w="12700">
            <a:solidFill>
              <a:schemeClr val="tx1"/>
            </a:solidFill>
            <a:prstDash val="solid"/>
          </a:ln>
        </p:spPr>
        <p:txBody>
          <a:bodyPr/>
          <a:lstStyle/>
          <a:p>
            <a:endParaRPr lang="en-IN"/>
          </a:p>
        </p:txBody>
      </p:sp>
      <p:sp>
        <p:nvSpPr>
          <p:cNvPr id="12" name="Text 10"/>
          <p:cNvSpPr txBox="1"/>
          <p:nvPr/>
        </p:nvSpPr>
        <p:spPr>
          <a:xfrm>
            <a:off x="5486400" y="1362456"/>
            <a:ext cx="3017520" cy="731520"/>
          </a:xfrm>
          <a:prstGeom prst="rect">
            <a:avLst/>
          </a:prstGeom>
          <a:noFill/>
          <a:ln/>
        </p:spPr>
        <p:txBody>
          <a:bodyPr wrap="square" lIns="0" tIns="0" rIns="0" bIns="0" rtlCol="0" anchor="t"/>
          <a:lstStyle/>
          <a:p>
            <a:pPr marL="0" indent="0">
              <a:buNone/>
            </a:pPr>
            <a:r>
              <a:rPr lang="en-US" sz="4800" b="1" dirty="0">
                <a:solidFill>
                  <a:schemeClr val="tx1"/>
                </a:solidFill>
                <a:latin typeface="Cambria" pitchFamily="34" charset="0"/>
                <a:ea typeface="Cambria" pitchFamily="34" charset="-122"/>
                <a:cs typeface="Cambria" pitchFamily="34" charset="-120"/>
              </a:rPr>
              <a:t>25,976</a:t>
            </a:r>
            <a:endParaRPr lang="en-US" sz="4800" dirty="0"/>
          </a:p>
        </p:txBody>
      </p:sp>
      <p:sp>
        <p:nvSpPr>
          <p:cNvPr id="13" name="Text 11"/>
          <p:cNvSpPr txBox="1"/>
          <p:nvPr/>
        </p:nvSpPr>
        <p:spPr>
          <a:xfrm>
            <a:off x="5486400" y="2093976"/>
            <a:ext cx="3017520" cy="274320"/>
          </a:xfrm>
          <a:prstGeom prst="rect">
            <a:avLst/>
          </a:prstGeom>
          <a:noFill/>
          <a:ln/>
        </p:spPr>
        <p:txBody>
          <a:bodyPr wrap="square" lIns="0" tIns="0" rIns="0" bIns="0" rtlCol="0" anchor="t"/>
          <a:lstStyle/>
          <a:p>
            <a:pPr marL="0" indent="0">
              <a:buNone/>
            </a:pPr>
            <a:r>
              <a:rPr lang="en-US" sz="1400" dirty="0">
                <a:solidFill>
                  <a:schemeClr val="accent5"/>
                </a:solidFill>
              </a:rPr>
              <a:t>Total records</a:t>
            </a:r>
            <a:endParaRPr lang="en-US" sz="1400" dirty="0"/>
          </a:p>
        </p:txBody>
      </p:sp>
      <p:sp>
        <p:nvSpPr>
          <p:cNvPr id="14" name="Divider"/>
          <p:cNvSpPr/>
          <p:nvPr/>
        </p:nvSpPr>
        <p:spPr>
          <a:xfrm>
            <a:off x="5486400" y="2551176"/>
            <a:ext cx="2971800" cy="0"/>
          </a:xfrm>
          <a:prstGeom prst="line">
            <a:avLst/>
          </a:prstGeom>
          <a:noFill/>
          <a:ln w="12700">
            <a:solidFill>
              <a:srgbClr val="C9CEE3"/>
            </a:solidFill>
            <a:prstDash val="solid"/>
          </a:ln>
        </p:spPr>
        <p:txBody>
          <a:bodyPr/>
          <a:lstStyle/>
          <a:p>
            <a:endParaRPr lang="en-IN"/>
          </a:p>
        </p:txBody>
      </p:sp>
      <p:sp>
        <p:nvSpPr>
          <p:cNvPr id="15" name="Text 13"/>
          <p:cNvSpPr txBox="1"/>
          <p:nvPr/>
        </p:nvSpPr>
        <p:spPr>
          <a:xfrm>
            <a:off x="5486400" y="2688336"/>
            <a:ext cx="1097280" cy="228600"/>
          </a:xfrm>
          <a:prstGeom prst="rect">
            <a:avLst/>
          </a:prstGeom>
          <a:noFill/>
          <a:ln/>
        </p:spPr>
        <p:txBody>
          <a:bodyPr wrap="square" lIns="0" tIns="0" rIns="0" bIns="0" rtlCol="0" anchor="t"/>
          <a:lstStyle/>
          <a:p>
            <a:pPr marL="0" indent="0">
              <a:buNone/>
            </a:pPr>
            <a:r>
              <a:rPr lang="en-US" sz="1000" b="1" kern="0" spc="300" dirty="0">
                <a:solidFill>
                  <a:schemeClr val="accent5"/>
                </a:solidFill>
              </a:rPr>
              <a:t>FROM</a:t>
            </a:r>
            <a:endParaRPr lang="en-US" sz="1000" dirty="0"/>
          </a:p>
        </p:txBody>
      </p:sp>
      <p:sp>
        <p:nvSpPr>
          <p:cNvPr id="16" name="Text 14"/>
          <p:cNvSpPr txBox="1"/>
          <p:nvPr/>
        </p:nvSpPr>
        <p:spPr>
          <a:xfrm>
            <a:off x="5486400" y="2916936"/>
            <a:ext cx="1188720" cy="548640"/>
          </a:xfrm>
          <a:prstGeom prst="rect">
            <a:avLst/>
          </a:prstGeom>
          <a:noFill/>
          <a:ln/>
        </p:spPr>
        <p:txBody>
          <a:bodyPr wrap="square" lIns="0" tIns="0" rIns="0" bIns="0" rtlCol="0" anchor="t"/>
          <a:lstStyle/>
          <a:p>
            <a:pPr marL="0" indent="0">
              <a:buNone/>
            </a:pPr>
            <a:r>
              <a:rPr lang="en-US" sz="1400" b="1" dirty="0">
                <a:solidFill>
                  <a:schemeClr val="tx1"/>
                </a:solidFill>
              </a:rPr>
              <a:t>Raw survey</a:t>
            </a:r>
            <a:endParaRPr lang="en-US" sz="1400" dirty="0"/>
          </a:p>
          <a:p>
            <a:pPr marL="0" indent="0">
              <a:buNone/>
            </a:pPr>
            <a:r>
              <a:rPr lang="en-US" sz="1400" b="1" dirty="0">
                <a:solidFill>
                  <a:schemeClr val="tx1"/>
                </a:solidFill>
              </a:rPr>
              <a:t>CSV</a:t>
            </a:r>
            <a:endParaRPr lang="en-US" sz="1400" dirty="0"/>
          </a:p>
        </p:txBody>
      </p:sp>
      <p:sp>
        <p:nvSpPr>
          <p:cNvPr id="17" name="Plane badge"/>
          <p:cNvSpPr/>
          <p:nvPr/>
        </p:nvSpPr>
        <p:spPr>
          <a:xfrm>
            <a:off x="6812280" y="2798064"/>
            <a:ext cx="502920" cy="502920"/>
          </a:xfrm>
          <a:prstGeom prst="ellipse">
            <a:avLst/>
          </a:prstGeom>
          <a:solidFill>
            <a:schemeClr val="accent1"/>
          </a:solidFill>
          <a:ln w="12700">
            <a:solidFill>
              <a:schemeClr val="accent1"/>
            </a:solidFill>
            <a:prstDash val="solid"/>
          </a:ln>
        </p:spPr>
        <p:txBody>
          <a:bodyPr/>
          <a:lstStyle/>
          <a:p>
            <a:endParaRPr lang="en-IN"/>
          </a:p>
        </p:txBody>
      </p:sp>
      <p:pic>
        <p:nvPicPr>
          <p:cNvPr id="18" name="Image 0" descr="Airplane icon"/>
          <p:cNvPicPr>
            <a:picLocks noChangeAspect="1"/>
          </p:cNvPicPr>
          <p:nvPr/>
        </p:nvPicPr>
        <p:blipFill>
          <a:blip r:embed="rId3"/>
          <a:stretch>
            <a:fillRect/>
          </a:stretch>
        </p:blipFill>
        <p:spPr>
          <a:xfrm>
            <a:off x="6931152" y="2916936"/>
            <a:ext cx="265176" cy="265176"/>
          </a:xfrm>
          <a:prstGeom prst="rect">
            <a:avLst/>
          </a:prstGeom>
        </p:spPr>
      </p:pic>
      <p:sp>
        <p:nvSpPr>
          <p:cNvPr id="19" name="Text 16"/>
          <p:cNvSpPr txBox="1"/>
          <p:nvPr/>
        </p:nvSpPr>
        <p:spPr>
          <a:xfrm>
            <a:off x="7589520" y="2688336"/>
            <a:ext cx="914400" cy="228600"/>
          </a:xfrm>
          <a:prstGeom prst="rect">
            <a:avLst/>
          </a:prstGeom>
          <a:noFill/>
          <a:ln/>
        </p:spPr>
        <p:txBody>
          <a:bodyPr wrap="square" lIns="0" tIns="0" rIns="0" bIns="0" rtlCol="0" anchor="t"/>
          <a:lstStyle/>
          <a:p>
            <a:pPr marL="0" indent="0">
              <a:buNone/>
            </a:pPr>
            <a:r>
              <a:rPr lang="en-US" sz="1000" b="1" kern="0" spc="300" dirty="0">
                <a:solidFill>
                  <a:schemeClr val="accent5"/>
                </a:solidFill>
              </a:rPr>
              <a:t>TO</a:t>
            </a:r>
            <a:endParaRPr lang="en-US" sz="1000" dirty="0"/>
          </a:p>
        </p:txBody>
      </p:sp>
      <p:sp>
        <p:nvSpPr>
          <p:cNvPr id="20" name="Text 17"/>
          <p:cNvSpPr txBox="1"/>
          <p:nvPr/>
        </p:nvSpPr>
        <p:spPr>
          <a:xfrm>
            <a:off x="7589520" y="2916936"/>
            <a:ext cx="1005840" cy="548640"/>
          </a:xfrm>
          <a:prstGeom prst="rect">
            <a:avLst/>
          </a:prstGeom>
          <a:noFill/>
          <a:ln/>
        </p:spPr>
        <p:txBody>
          <a:bodyPr wrap="square" lIns="0" tIns="0" rIns="0" bIns="0" rtlCol="0" anchor="t"/>
          <a:lstStyle/>
          <a:p>
            <a:pPr marL="0" indent="0">
              <a:buNone/>
            </a:pPr>
            <a:r>
              <a:rPr lang="en-US" sz="1400" b="1" dirty="0">
                <a:solidFill>
                  <a:schemeClr val="tx1"/>
                </a:solidFill>
              </a:rPr>
              <a:t>Business</a:t>
            </a:r>
            <a:endParaRPr lang="en-US" sz="1400" dirty="0"/>
          </a:p>
          <a:p>
            <a:pPr marL="0" indent="0">
              <a:buNone/>
            </a:pPr>
            <a:r>
              <a:rPr lang="en-US" sz="1400" b="1" dirty="0">
                <a:solidFill>
                  <a:schemeClr val="tx1"/>
                </a:solidFill>
              </a:rPr>
              <a:t>insights</a:t>
            </a:r>
            <a:endParaRPr lang="en-US" sz="1400" dirty="0"/>
          </a:p>
        </p:txBody>
      </p:sp>
      <p:sp>
        <p:nvSpPr>
          <p:cNvPr id="21" name="Text 18"/>
          <p:cNvSpPr txBox="1"/>
          <p:nvPr/>
        </p:nvSpPr>
        <p:spPr>
          <a:xfrm>
            <a:off x="5486400" y="3694176"/>
            <a:ext cx="3017520" cy="274320"/>
          </a:xfrm>
          <a:prstGeom prst="rect">
            <a:avLst/>
          </a:prstGeom>
          <a:noFill/>
          <a:ln/>
        </p:spPr>
        <p:txBody>
          <a:bodyPr wrap="square" lIns="0" tIns="0" rIns="0" bIns="0" rtlCol="0" anchor="t"/>
          <a:lstStyle/>
          <a:p>
            <a:pPr marL="0" indent="0">
              <a:buNone/>
            </a:pPr>
            <a:r>
              <a:rPr lang="en-US" sz="1200" b="1" kern="0" spc="300" dirty="0">
                <a:solidFill>
                  <a:schemeClr val="accent3"/>
                </a:solidFill>
              </a:rPr>
              <a:t>SATISFIED  43.9%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rPr>
              <a:t>Pre-flight check: what we flew with</a:t>
            </a:r>
            <a:endParaRPr lang="en-US" sz="3200" dirty="0"/>
          </a:p>
        </p:txBody>
      </p:sp>
      <p:sp>
        <p:nvSpPr>
          <p:cNvPr id="3" name="Ticket card"/>
          <p:cNvSpPr/>
          <p:nvPr/>
        </p:nvSpPr>
        <p:spPr>
          <a:xfrm>
            <a:off x="457200" y="1188720"/>
            <a:ext cx="2240280" cy="1600200"/>
          </a:xfrm>
          <a:prstGeom prst="roundRect">
            <a:avLst>
              <a:gd name="adj" fmla="val 6857"/>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4" name="Text 2"/>
          <p:cNvSpPr txBox="1"/>
          <p:nvPr/>
        </p:nvSpPr>
        <p:spPr>
          <a:xfrm>
            <a:off x="685800" y="1298448"/>
            <a:ext cx="178308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PASSENGERS</a:t>
            </a:r>
            <a:endParaRPr lang="en-US" sz="1000" dirty="0"/>
          </a:p>
        </p:txBody>
      </p:sp>
      <p:sp>
        <p:nvSpPr>
          <p:cNvPr id="5" name="Perforation"/>
          <p:cNvSpPr/>
          <p:nvPr/>
        </p:nvSpPr>
        <p:spPr>
          <a:xfrm>
            <a:off x="640080" y="1664208"/>
            <a:ext cx="1874520" cy="0"/>
          </a:xfrm>
          <a:prstGeom prst="line">
            <a:avLst/>
          </a:prstGeom>
          <a:noFill/>
          <a:ln w="15875">
            <a:solidFill>
              <a:srgbClr val="C9CEE3"/>
            </a:solidFill>
            <a:prstDash val="dash"/>
          </a:ln>
        </p:spPr>
        <p:txBody>
          <a:bodyPr/>
          <a:lstStyle/>
          <a:p>
            <a:endParaRPr lang="en-IN"/>
          </a:p>
        </p:txBody>
      </p:sp>
      <p:sp>
        <p:nvSpPr>
          <p:cNvPr id="6" name="Notch left"/>
          <p:cNvSpPr/>
          <p:nvPr/>
        </p:nvSpPr>
        <p:spPr>
          <a:xfrm>
            <a:off x="329184" y="1536192"/>
            <a:ext cx="256032" cy="256032"/>
          </a:xfrm>
          <a:prstGeom prst="ellipse">
            <a:avLst/>
          </a:prstGeom>
          <a:solidFill>
            <a:schemeClr val="tx1"/>
          </a:solidFill>
          <a:ln w="12700">
            <a:solidFill>
              <a:schemeClr val="tx1"/>
            </a:solidFill>
            <a:prstDash val="solid"/>
          </a:ln>
        </p:spPr>
        <p:txBody>
          <a:bodyPr/>
          <a:lstStyle/>
          <a:p>
            <a:endParaRPr lang="en-IN"/>
          </a:p>
        </p:txBody>
      </p:sp>
      <p:sp>
        <p:nvSpPr>
          <p:cNvPr id="7" name="Notch right"/>
          <p:cNvSpPr/>
          <p:nvPr/>
        </p:nvSpPr>
        <p:spPr>
          <a:xfrm>
            <a:off x="2569464" y="1536192"/>
            <a:ext cx="256032" cy="256032"/>
          </a:xfrm>
          <a:prstGeom prst="ellipse">
            <a:avLst/>
          </a:prstGeom>
          <a:solidFill>
            <a:schemeClr val="tx1"/>
          </a:solidFill>
          <a:ln w="12700">
            <a:solidFill>
              <a:schemeClr val="tx1"/>
            </a:solidFill>
            <a:prstDash val="solid"/>
          </a:ln>
        </p:spPr>
        <p:txBody>
          <a:bodyPr/>
          <a:lstStyle/>
          <a:p>
            <a:endParaRPr lang="en-IN"/>
          </a:p>
        </p:txBody>
      </p:sp>
      <p:sp>
        <p:nvSpPr>
          <p:cNvPr id="8" name="Text 6"/>
          <p:cNvSpPr txBox="1"/>
          <p:nvPr/>
        </p:nvSpPr>
        <p:spPr>
          <a:xfrm>
            <a:off x="685800" y="1773936"/>
            <a:ext cx="1828800" cy="548640"/>
          </a:xfrm>
          <a:prstGeom prst="rect">
            <a:avLst/>
          </a:prstGeom>
          <a:noFill/>
          <a:ln/>
        </p:spPr>
        <p:txBody>
          <a:bodyPr wrap="square" lIns="0" tIns="0" rIns="0" bIns="0" rtlCol="0" anchor="t"/>
          <a:lstStyle/>
          <a:p>
            <a:pPr marL="0" indent="0">
              <a:buNone/>
            </a:pPr>
            <a:r>
              <a:rPr lang="en-US" sz="3400" b="1" dirty="0">
                <a:solidFill>
                  <a:schemeClr val="tx1"/>
                </a:solidFill>
                <a:latin typeface="Cambria" pitchFamily="34" charset="0"/>
                <a:ea typeface="Cambria" pitchFamily="34" charset="-122"/>
                <a:cs typeface="Cambria" pitchFamily="34" charset="-120"/>
              </a:rPr>
              <a:t>25,893</a:t>
            </a:r>
            <a:endParaRPr lang="en-US" sz="3400" dirty="0"/>
          </a:p>
        </p:txBody>
      </p:sp>
      <p:sp>
        <p:nvSpPr>
          <p:cNvPr id="9" name="Text 7"/>
          <p:cNvSpPr txBox="1"/>
          <p:nvPr/>
        </p:nvSpPr>
        <p:spPr>
          <a:xfrm>
            <a:off x="685800" y="2340864"/>
            <a:ext cx="1828800" cy="411480"/>
          </a:xfrm>
          <a:prstGeom prst="rect">
            <a:avLst/>
          </a:prstGeom>
          <a:noFill/>
          <a:ln/>
        </p:spPr>
        <p:txBody>
          <a:bodyPr wrap="square" lIns="0" tIns="0" rIns="0" bIns="0" rtlCol="0" anchor="t"/>
          <a:lstStyle/>
          <a:p>
            <a:pPr marL="0" indent="0">
              <a:buNone/>
            </a:pPr>
            <a:r>
              <a:rPr lang="en-US" sz="1200" dirty="0">
                <a:solidFill>
                  <a:schemeClr val="accent5"/>
                </a:solidFill>
              </a:rPr>
              <a:t>rows after cleaning (25,976 raw)</a:t>
            </a:r>
            <a:endParaRPr lang="en-US" sz="1200" dirty="0"/>
          </a:p>
        </p:txBody>
      </p:sp>
      <p:sp>
        <p:nvSpPr>
          <p:cNvPr id="10" name="Ticket card"/>
          <p:cNvSpPr/>
          <p:nvPr/>
        </p:nvSpPr>
        <p:spPr>
          <a:xfrm>
            <a:off x="2880360" y="1188720"/>
            <a:ext cx="2240280" cy="1600200"/>
          </a:xfrm>
          <a:prstGeom prst="roundRect">
            <a:avLst>
              <a:gd name="adj" fmla="val 6857"/>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11" name="Text 9"/>
          <p:cNvSpPr txBox="1"/>
          <p:nvPr/>
        </p:nvSpPr>
        <p:spPr>
          <a:xfrm>
            <a:off x="3108960" y="1298448"/>
            <a:ext cx="178308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SERVICES RATED</a:t>
            </a:r>
            <a:endParaRPr lang="en-US" sz="1000" dirty="0"/>
          </a:p>
        </p:txBody>
      </p:sp>
      <p:sp>
        <p:nvSpPr>
          <p:cNvPr id="12" name="Perforation"/>
          <p:cNvSpPr/>
          <p:nvPr/>
        </p:nvSpPr>
        <p:spPr>
          <a:xfrm>
            <a:off x="3063240" y="1664208"/>
            <a:ext cx="1874520" cy="0"/>
          </a:xfrm>
          <a:prstGeom prst="line">
            <a:avLst/>
          </a:prstGeom>
          <a:noFill/>
          <a:ln w="15875">
            <a:solidFill>
              <a:srgbClr val="C9CEE3"/>
            </a:solidFill>
            <a:prstDash val="dash"/>
          </a:ln>
        </p:spPr>
        <p:txBody>
          <a:bodyPr/>
          <a:lstStyle/>
          <a:p>
            <a:endParaRPr lang="en-IN"/>
          </a:p>
        </p:txBody>
      </p:sp>
      <p:sp>
        <p:nvSpPr>
          <p:cNvPr id="13" name="Notch left"/>
          <p:cNvSpPr/>
          <p:nvPr/>
        </p:nvSpPr>
        <p:spPr>
          <a:xfrm>
            <a:off x="2752344" y="1536192"/>
            <a:ext cx="256032" cy="256032"/>
          </a:xfrm>
          <a:prstGeom prst="ellipse">
            <a:avLst/>
          </a:prstGeom>
          <a:solidFill>
            <a:schemeClr val="tx1"/>
          </a:solidFill>
          <a:ln w="12700">
            <a:solidFill>
              <a:schemeClr val="tx1"/>
            </a:solidFill>
            <a:prstDash val="solid"/>
          </a:ln>
        </p:spPr>
        <p:txBody>
          <a:bodyPr/>
          <a:lstStyle/>
          <a:p>
            <a:endParaRPr lang="en-IN"/>
          </a:p>
        </p:txBody>
      </p:sp>
      <p:sp>
        <p:nvSpPr>
          <p:cNvPr id="14" name="Notch right"/>
          <p:cNvSpPr/>
          <p:nvPr/>
        </p:nvSpPr>
        <p:spPr>
          <a:xfrm>
            <a:off x="4992624" y="1536192"/>
            <a:ext cx="256032" cy="256032"/>
          </a:xfrm>
          <a:prstGeom prst="ellipse">
            <a:avLst/>
          </a:prstGeom>
          <a:solidFill>
            <a:schemeClr val="tx1"/>
          </a:solidFill>
          <a:ln w="12700">
            <a:solidFill>
              <a:schemeClr val="tx1"/>
            </a:solidFill>
            <a:prstDash val="solid"/>
          </a:ln>
        </p:spPr>
        <p:txBody>
          <a:bodyPr/>
          <a:lstStyle/>
          <a:p>
            <a:endParaRPr lang="en-IN"/>
          </a:p>
        </p:txBody>
      </p:sp>
      <p:sp>
        <p:nvSpPr>
          <p:cNvPr id="15" name="Text 13"/>
          <p:cNvSpPr txBox="1"/>
          <p:nvPr/>
        </p:nvSpPr>
        <p:spPr>
          <a:xfrm>
            <a:off x="3108960" y="1773936"/>
            <a:ext cx="1828800" cy="548640"/>
          </a:xfrm>
          <a:prstGeom prst="rect">
            <a:avLst/>
          </a:prstGeom>
          <a:noFill/>
          <a:ln/>
        </p:spPr>
        <p:txBody>
          <a:bodyPr wrap="square" lIns="0" tIns="0" rIns="0" bIns="0" rtlCol="0" anchor="t"/>
          <a:lstStyle/>
          <a:p>
            <a:pPr marL="0" indent="0">
              <a:buNone/>
            </a:pPr>
            <a:r>
              <a:rPr lang="en-US" sz="3400" b="1" dirty="0">
                <a:solidFill>
                  <a:schemeClr val="tx1"/>
                </a:solidFill>
                <a:latin typeface="Cambria" pitchFamily="34" charset="0"/>
                <a:ea typeface="Cambria" pitchFamily="34" charset="-122"/>
                <a:cs typeface="Cambria" pitchFamily="34" charset="-120"/>
              </a:rPr>
              <a:t>14</a:t>
            </a:r>
            <a:endParaRPr lang="en-US" sz="3400" dirty="0"/>
          </a:p>
        </p:txBody>
      </p:sp>
      <p:sp>
        <p:nvSpPr>
          <p:cNvPr id="16" name="Text 14"/>
          <p:cNvSpPr txBox="1"/>
          <p:nvPr/>
        </p:nvSpPr>
        <p:spPr>
          <a:xfrm>
            <a:off x="3108960" y="2340864"/>
            <a:ext cx="1828800" cy="411480"/>
          </a:xfrm>
          <a:prstGeom prst="rect">
            <a:avLst/>
          </a:prstGeom>
          <a:noFill/>
          <a:ln/>
        </p:spPr>
        <p:txBody>
          <a:bodyPr wrap="square" lIns="0" tIns="0" rIns="0" bIns="0" rtlCol="0" anchor="t"/>
          <a:lstStyle/>
          <a:p>
            <a:pPr marL="0" indent="0">
              <a:buNone/>
            </a:pPr>
            <a:r>
              <a:rPr lang="en-US" sz="1200" dirty="0">
                <a:solidFill>
                  <a:schemeClr val="accent5"/>
                </a:solidFill>
              </a:rPr>
              <a:t>services scored 0 to 5 by each passenger</a:t>
            </a:r>
            <a:endParaRPr lang="en-US" sz="1200" dirty="0"/>
          </a:p>
        </p:txBody>
      </p:sp>
      <p:sp>
        <p:nvSpPr>
          <p:cNvPr id="17" name="Ticket card"/>
          <p:cNvSpPr/>
          <p:nvPr/>
        </p:nvSpPr>
        <p:spPr>
          <a:xfrm>
            <a:off x="457200" y="2971800"/>
            <a:ext cx="2240280" cy="1600200"/>
          </a:xfrm>
          <a:prstGeom prst="roundRect">
            <a:avLst>
              <a:gd name="adj" fmla="val 6857"/>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18" name="Text 16"/>
          <p:cNvSpPr txBox="1"/>
          <p:nvPr/>
        </p:nvSpPr>
        <p:spPr>
          <a:xfrm>
            <a:off x="685800" y="3081528"/>
            <a:ext cx="178308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NULLS DROPPED</a:t>
            </a:r>
            <a:endParaRPr lang="en-US" sz="1000" dirty="0"/>
          </a:p>
        </p:txBody>
      </p:sp>
      <p:sp>
        <p:nvSpPr>
          <p:cNvPr id="19" name="Perforation"/>
          <p:cNvSpPr/>
          <p:nvPr/>
        </p:nvSpPr>
        <p:spPr>
          <a:xfrm>
            <a:off x="640080" y="3447288"/>
            <a:ext cx="1874520" cy="0"/>
          </a:xfrm>
          <a:prstGeom prst="line">
            <a:avLst/>
          </a:prstGeom>
          <a:noFill/>
          <a:ln w="15875">
            <a:solidFill>
              <a:srgbClr val="C9CEE3"/>
            </a:solidFill>
            <a:prstDash val="dash"/>
          </a:ln>
        </p:spPr>
        <p:txBody>
          <a:bodyPr/>
          <a:lstStyle/>
          <a:p>
            <a:endParaRPr lang="en-IN"/>
          </a:p>
        </p:txBody>
      </p:sp>
      <p:sp>
        <p:nvSpPr>
          <p:cNvPr id="20" name="Notch left"/>
          <p:cNvSpPr/>
          <p:nvPr/>
        </p:nvSpPr>
        <p:spPr>
          <a:xfrm>
            <a:off x="329184" y="3319272"/>
            <a:ext cx="256032" cy="256032"/>
          </a:xfrm>
          <a:prstGeom prst="ellipse">
            <a:avLst/>
          </a:prstGeom>
          <a:solidFill>
            <a:schemeClr val="tx1"/>
          </a:solidFill>
          <a:ln w="12700">
            <a:solidFill>
              <a:schemeClr val="tx1"/>
            </a:solidFill>
            <a:prstDash val="solid"/>
          </a:ln>
        </p:spPr>
        <p:txBody>
          <a:bodyPr/>
          <a:lstStyle/>
          <a:p>
            <a:endParaRPr lang="en-IN"/>
          </a:p>
        </p:txBody>
      </p:sp>
      <p:sp>
        <p:nvSpPr>
          <p:cNvPr id="21" name="Notch right"/>
          <p:cNvSpPr/>
          <p:nvPr/>
        </p:nvSpPr>
        <p:spPr>
          <a:xfrm>
            <a:off x="2569464" y="3319272"/>
            <a:ext cx="256032" cy="256032"/>
          </a:xfrm>
          <a:prstGeom prst="ellipse">
            <a:avLst/>
          </a:prstGeom>
          <a:solidFill>
            <a:schemeClr val="tx1"/>
          </a:solidFill>
          <a:ln w="12700">
            <a:solidFill>
              <a:schemeClr val="tx1"/>
            </a:solidFill>
            <a:prstDash val="solid"/>
          </a:ln>
        </p:spPr>
        <p:txBody>
          <a:bodyPr/>
          <a:lstStyle/>
          <a:p>
            <a:endParaRPr lang="en-IN"/>
          </a:p>
        </p:txBody>
      </p:sp>
      <p:sp>
        <p:nvSpPr>
          <p:cNvPr id="22" name="Text 20"/>
          <p:cNvSpPr txBox="1"/>
          <p:nvPr/>
        </p:nvSpPr>
        <p:spPr>
          <a:xfrm>
            <a:off x="685800" y="3557016"/>
            <a:ext cx="1828800" cy="548640"/>
          </a:xfrm>
          <a:prstGeom prst="rect">
            <a:avLst/>
          </a:prstGeom>
          <a:noFill/>
          <a:ln/>
        </p:spPr>
        <p:txBody>
          <a:bodyPr wrap="square" lIns="0" tIns="0" rIns="0" bIns="0" rtlCol="0" anchor="t"/>
          <a:lstStyle/>
          <a:p>
            <a:pPr marL="0" indent="0">
              <a:buNone/>
            </a:pPr>
            <a:r>
              <a:rPr lang="en-US" sz="3400" b="1" dirty="0">
                <a:solidFill>
                  <a:schemeClr val="tx1"/>
                </a:solidFill>
                <a:latin typeface="Cambria" pitchFamily="34" charset="0"/>
                <a:ea typeface="Cambria" pitchFamily="34" charset="-122"/>
                <a:cs typeface="Cambria" pitchFamily="34" charset="-120"/>
              </a:rPr>
              <a:t>83</a:t>
            </a:r>
            <a:endParaRPr lang="en-US" sz="3400" dirty="0"/>
          </a:p>
        </p:txBody>
      </p:sp>
      <p:sp>
        <p:nvSpPr>
          <p:cNvPr id="23" name="Text 21"/>
          <p:cNvSpPr txBox="1"/>
          <p:nvPr/>
        </p:nvSpPr>
        <p:spPr>
          <a:xfrm>
            <a:off x="685800" y="4123944"/>
            <a:ext cx="1828800" cy="411480"/>
          </a:xfrm>
          <a:prstGeom prst="rect">
            <a:avLst/>
          </a:prstGeom>
          <a:noFill/>
          <a:ln/>
        </p:spPr>
        <p:txBody>
          <a:bodyPr wrap="square" lIns="0" tIns="0" rIns="0" bIns="0" rtlCol="0" anchor="t"/>
          <a:lstStyle/>
          <a:p>
            <a:pPr marL="0" indent="0">
              <a:buNone/>
            </a:pPr>
            <a:r>
              <a:rPr lang="en-US" sz="1200" dirty="0">
                <a:solidFill>
                  <a:schemeClr val="accent5"/>
                </a:solidFill>
              </a:rPr>
              <a:t>rows without Arrival Delay</a:t>
            </a:r>
            <a:endParaRPr lang="en-US" sz="1200" dirty="0"/>
          </a:p>
        </p:txBody>
      </p:sp>
      <p:sp>
        <p:nvSpPr>
          <p:cNvPr id="24" name="Ticket card"/>
          <p:cNvSpPr/>
          <p:nvPr/>
        </p:nvSpPr>
        <p:spPr>
          <a:xfrm>
            <a:off x="2880360" y="2971800"/>
            <a:ext cx="2240280" cy="1600200"/>
          </a:xfrm>
          <a:prstGeom prst="roundRect">
            <a:avLst>
              <a:gd name="adj" fmla="val 6857"/>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25" name="Text 23"/>
          <p:cNvSpPr txBox="1"/>
          <p:nvPr/>
        </p:nvSpPr>
        <p:spPr>
          <a:xfrm>
            <a:off x="3108960" y="3081528"/>
            <a:ext cx="178308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DUPLICATES</a:t>
            </a:r>
            <a:endParaRPr lang="en-US" sz="1000" dirty="0"/>
          </a:p>
        </p:txBody>
      </p:sp>
      <p:sp>
        <p:nvSpPr>
          <p:cNvPr id="26" name="Perforation"/>
          <p:cNvSpPr/>
          <p:nvPr/>
        </p:nvSpPr>
        <p:spPr>
          <a:xfrm>
            <a:off x="3063240" y="3447288"/>
            <a:ext cx="1874520" cy="0"/>
          </a:xfrm>
          <a:prstGeom prst="line">
            <a:avLst/>
          </a:prstGeom>
          <a:noFill/>
          <a:ln w="15875">
            <a:solidFill>
              <a:srgbClr val="C9CEE3"/>
            </a:solidFill>
            <a:prstDash val="dash"/>
          </a:ln>
        </p:spPr>
        <p:txBody>
          <a:bodyPr/>
          <a:lstStyle/>
          <a:p>
            <a:endParaRPr lang="en-IN"/>
          </a:p>
        </p:txBody>
      </p:sp>
      <p:sp>
        <p:nvSpPr>
          <p:cNvPr id="27" name="Notch left"/>
          <p:cNvSpPr/>
          <p:nvPr/>
        </p:nvSpPr>
        <p:spPr>
          <a:xfrm>
            <a:off x="2752344" y="3319272"/>
            <a:ext cx="256032" cy="256032"/>
          </a:xfrm>
          <a:prstGeom prst="ellipse">
            <a:avLst/>
          </a:prstGeom>
          <a:solidFill>
            <a:schemeClr val="tx1"/>
          </a:solidFill>
          <a:ln w="12700">
            <a:solidFill>
              <a:schemeClr val="tx1"/>
            </a:solidFill>
            <a:prstDash val="solid"/>
          </a:ln>
        </p:spPr>
        <p:txBody>
          <a:bodyPr/>
          <a:lstStyle/>
          <a:p>
            <a:endParaRPr lang="en-IN"/>
          </a:p>
        </p:txBody>
      </p:sp>
      <p:sp>
        <p:nvSpPr>
          <p:cNvPr id="28" name="Notch right"/>
          <p:cNvSpPr/>
          <p:nvPr/>
        </p:nvSpPr>
        <p:spPr>
          <a:xfrm>
            <a:off x="4992624" y="3319272"/>
            <a:ext cx="256032" cy="256032"/>
          </a:xfrm>
          <a:prstGeom prst="ellipse">
            <a:avLst/>
          </a:prstGeom>
          <a:solidFill>
            <a:schemeClr val="tx1"/>
          </a:solidFill>
          <a:ln w="12700">
            <a:solidFill>
              <a:schemeClr val="tx1"/>
            </a:solidFill>
            <a:prstDash val="solid"/>
          </a:ln>
        </p:spPr>
        <p:txBody>
          <a:bodyPr/>
          <a:lstStyle/>
          <a:p>
            <a:endParaRPr lang="en-IN"/>
          </a:p>
        </p:txBody>
      </p:sp>
      <p:sp>
        <p:nvSpPr>
          <p:cNvPr id="29" name="Text 27"/>
          <p:cNvSpPr txBox="1"/>
          <p:nvPr/>
        </p:nvSpPr>
        <p:spPr>
          <a:xfrm>
            <a:off x="3108960" y="3557016"/>
            <a:ext cx="1828800" cy="548640"/>
          </a:xfrm>
          <a:prstGeom prst="rect">
            <a:avLst/>
          </a:prstGeom>
          <a:noFill/>
          <a:ln/>
        </p:spPr>
        <p:txBody>
          <a:bodyPr wrap="square" lIns="0" tIns="0" rIns="0" bIns="0" rtlCol="0" anchor="t"/>
          <a:lstStyle/>
          <a:p>
            <a:pPr marL="0" indent="0">
              <a:buNone/>
            </a:pPr>
            <a:r>
              <a:rPr lang="en-US" sz="3400" b="1" dirty="0">
                <a:solidFill>
                  <a:schemeClr val="tx1"/>
                </a:solidFill>
                <a:latin typeface="Cambria" pitchFamily="34" charset="0"/>
                <a:ea typeface="Cambria" pitchFamily="34" charset="-122"/>
                <a:cs typeface="Cambria" pitchFamily="34" charset="-120"/>
              </a:rPr>
              <a:t>0</a:t>
            </a:r>
            <a:endParaRPr lang="en-US" sz="3400" dirty="0"/>
          </a:p>
        </p:txBody>
      </p:sp>
      <p:sp>
        <p:nvSpPr>
          <p:cNvPr id="30" name="Text 28"/>
          <p:cNvSpPr txBox="1"/>
          <p:nvPr/>
        </p:nvSpPr>
        <p:spPr>
          <a:xfrm>
            <a:off x="3108960" y="4123944"/>
            <a:ext cx="1828800" cy="411480"/>
          </a:xfrm>
          <a:prstGeom prst="rect">
            <a:avLst/>
          </a:prstGeom>
          <a:noFill/>
          <a:ln/>
        </p:spPr>
        <p:txBody>
          <a:bodyPr wrap="square" lIns="0" tIns="0" rIns="0" bIns="0" rtlCol="0" anchor="t"/>
          <a:lstStyle/>
          <a:p>
            <a:pPr marL="0" indent="0">
              <a:buNone/>
            </a:pPr>
            <a:r>
              <a:rPr lang="en-US" sz="1200" dirty="0">
                <a:solidFill>
                  <a:schemeClr val="accent5"/>
                </a:solidFill>
              </a:rPr>
              <a:t>duplicate rows found</a:t>
            </a:r>
            <a:endParaRPr lang="en-US" sz="1200" dirty="0"/>
          </a:p>
        </p:txBody>
      </p:sp>
      <p:sp>
        <p:nvSpPr>
          <p:cNvPr id="31" name="Columns card"/>
          <p:cNvSpPr/>
          <p:nvPr/>
        </p:nvSpPr>
        <p:spPr>
          <a:xfrm>
            <a:off x="5394960" y="1188720"/>
            <a:ext cx="3291840" cy="3383280"/>
          </a:xfrm>
          <a:prstGeom prst="roundRect">
            <a:avLst>
              <a:gd name="adj" fmla="val 3333"/>
            </a:avLst>
          </a:prstGeom>
          <a:solidFill>
            <a:schemeClr val="tx2"/>
          </a:solidFill>
          <a:ln w="12700">
            <a:solidFill>
              <a:schemeClr val="tx2"/>
            </a:solidFill>
            <a:prstDash val="solid"/>
          </a:ln>
        </p:spPr>
        <p:txBody>
          <a:bodyPr/>
          <a:lstStyle/>
          <a:p>
            <a:endParaRPr lang="en-IN"/>
          </a:p>
        </p:txBody>
      </p:sp>
      <p:sp>
        <p:nvSpPr>
          <p:cNvPr id="32" name="Text 30"/>
          <p:cNvSpPr txBox="1"/>
          <p:nvPr/>
        </p:nvSpPr>
        <p:spPr>
          <a:xfrm>
            <a:off x="5623560" y="1325880"/>
            <a:ext cx="2834640" cy="274320"/>
          </a:xfrm>
          <a:prstGeom prst="rect">
            <a:avLst/>
          </a:prstGeom>
          <a:noFill/>
          <a:ln/>
        </p:spPr>
        <p:txBody>
          <a:bodyPr wrap="square" lIns="0" tIns="0" rIns="0" bIns="0" rtlCol="0" anchor="t"/>
          <a:lstStyle/>
          <a:p>
            <a:pPr marL="0" indent="0">
              <a:buNone/>
            </a:pPr>
            <a:r>
              <a:rPr lang="en-US" sz="1100" b="1" kern="0" spc="300" dirty="0">
                <a:solidFill>
                  <a:schemeClr val="accent2"/>
                </a:solidFill>
              </a:rPr>
              <a:t>WHAT'S IN EACH ROW</a:t>
            </a:r>
            <a:endParaRPr lang="en-US" sz="1100" dirty="0"/>
          </a:p>
        </p:txBody>
      </p:sp>
      <p:sp>
        <p:nvSpPr>
          <p:cNvPr id="33" name="Text 31"/>
          <p:cNvSpPr txBox="1"/>
          <p:nvPr/>
        </p:nvSpPr>
        <p:spPr>
          <a:xfrm>
            <a:off x="5623560" y="1783080"/>
            <a:ext cx="2834640" cy="182880"/>
          </a:xfrm>
          <a:prstGeom prst="rect">
            <a:avLst/>
          </a:prstGeom>
          <a:noFill/>
          <a:ln/>
        </p:spPr>
        <p:txBody>
          <a:bodyPr wrap="square" lIns="0" tIns="0" rIns="0" bIns="0" rtlCol="0" anchor="t"/>
          <a:lstStyle/>
          <a:p>
            <a:pPr marL="0" indent="0">
              <a:buNone/>
            </a:pPr>
            <a:r>
              <a:rPr lang="en-US" sz="1000" b="1" kern="0" spc="300" dirty="0">
                <a:solidFill>
                  <a:schemeClr val="accent4"/>
                </a:solidFill>
              </a:rPr>
              <a:t>PASSENGER</a:t>
            </a:r>
            <a:endParaRPr lang="en-US" sz="1000" dirty="0"/>
          </a:p>
        </p:txBody>
      </p:sp>
      <p:sp>
        <p:nvSpPr>
          <p:cNvPr id="34" name="Text 32"/>
          <p:cNvSpPr txBox="1"/>
          <p:nvPr/>
        </p:nvSpPr>
        <p:spPr>
          <a:xfrm>
            <a:off x="5623560" y="1965960"/>
            <a:ext cx="2926080" cy="274320"/>
          </a:xfrm>
          <a:prstGeom prst="rect">
            <a:avLst/>
          </a:prstGeom>
          <a:noFill/>
          <a:ln/>
        </p:spPr>
        <p:txBody>
          <a:bodyPr wrap="square" lIns="0" tIns="0" rIns="0" bIns="0" rtlCol="0" anchor="t"/>
          <a:lstStyle/>
          <a:p>
            <a:pPr marL="0" indent="0">
              <a:buNone/>
            </a:pPr>
            <a:r>
              <a:rPr lang="en-US" sz="1400" dirty="0">
                <a:solidFill>
                  <a:schemeClr val="bg1"/>
                </a:solidFill>
              </a:rPr>
              <a:t>Gender · Age · Customer type</a:t>
            </a:r>
            <a:endParaRPr lang="en-US" sz="1400" dirty="0"/>
          </a:p>
        </p:txBody>
      </p:sp>
      <p:sp>
        <p:nvSpPr>
          <p:cNvPr id="35" name="Text 33"/>
          <p:cNvSpPr txBox="1"/>
          <p:nvPr/>
        </p:nvSpPr>
        <p:spPr>
          <a:xfrm>
            <a:off x="5623560" y="2313432"/>
            <a:ext cx="2834640" cy="182880"/>
          </a:xfrm>
          <a:prstGeom prst="rect">
            <a:avLst/>
          </a:prstGeom>
          <a:noFill/>
          <a:ln/>
        </p:spPr>
        <p:txBody>
          <a:bodyPr wrap="square" lIns="0" tIns="0" rIns="0" bIns="0" rtlCol="0" anchor="t"/>
          <a:lstStyle/>
          <a:p>
            <a:pPr marL="0" indent="0">
              <a:buNone/>
            </a:pPr>
            <a:r>
              <a:rPr lang="en-US" sz="1000" b="1" kern="0" spc="300" dirty="0">
                <a:solidFill>
                  <a:schemeClr val="accent4"/>
                </a:solidFill>
              </a:rPr>
              <a:t>TRIP</a:t>
            </a:r>
            <a:endParaRPr lang="en-US" sz="1000" dirty="0"/>
          </a:p>
        </p:txBody>
      </p:sp>
      <p:sp>
        <p:nvSpPr>
          <p:cNvPr id="36" name="Text 34"/>
          <p:cNvSpPr txBox="1"/>
          <p:nvPr/>
        </p:nvSpPr>
        <p:spPr>
          <a:xfrm>
            <a:off x="5623560" y="2496312"/>
            <a:ext cx="2926080" cy="274320"/>
          </a:xfrm>
          <a:prstGeom prst="rect">
            <a:avLst/>
          </a:prstGeom>
          <a:noFill/>
          <a:ln/>
        </p:spPr>
        <p:txBody>
          <a:bodyPr wrap="square" lIns="0" tIns="0" rIns="0" bIns="0" rtlCol="0" anchor="t"/>
          <a:lstStyle/>
          <a:p>
            <a:pPr marL="0" indent="0">
              <a:buNone/>
            </a:pPr>
            <a:r>
              <a:rPr lang="en-US" sz="1400" dirty="0">
                <a:solidFill>
                  <a:schemeClr val="bg1"/>
                </a:solidFill>
              </a:rPr>
              <a:t>Class · Travel type · Distance</a:t>
            </a:r>
            <a:endParaRPr lang="en-US" sz="1400" dirty="0"/>
          </a:p>
        </p:txBody>
      </p:sp>
      <p:sp>
        <p:nvSpPr>
          <p:cNvPr id="37" name="Text 35"/>
          <p:cNvSpPr txBox="1"/>
          <p:nvPr/>
        </p:nvSpPr>
        <p:spPr>
          <a:xfrm>
            <a:off x="5623560" y="2843784"/>
            <a:ext cx="2834640" cy="182880"/>
          </a:xfrm>
          <a:prstGeom prst="rect">
            <a:avLst/>
          </a:prstGeom>
          <a:noFill/>
          <a:ln/>
        </p:spPr>
        <p:txBody>
          <a:bodyPr wrap="square" lIns="0" tIns="0" rIns="0" bIns="0" rtlCol="0" anchor="t"/>
          <a:lstStyle/>
          <a:p>
            <a:pPr marL="0" indent="0">
              <a:buNone/>
            </a:pPr>
            <a:r>
              <a:rPr lang="en-US" sz="1000" b="1" kern="0" spc="300" dirty="0">
                <a:solidFill>
                  <a:schemeClr val="accent4"/>
                </a:solidFill>
              </a:rPr>
              <a:t>SERVICE</a:t>
            </a:r>
            <a:endParaRPr lang="en-US" sz="1000" dirty="0"/>
          </a:p>
        </p:txBody>
      </p:sp>
      <p:sp>
        <p:nvSpPr>
          <p:cNvPr id="38" name="Text 36"/>
          <p:cNvSpPr txBox="1"/>
          <p:nvPr/>
        </p:nvSpPr>
        <p:spPr>
          <a:xfrm>
            <a:off x="5623560" y="3026664"/>
            <a:ext cx="2926080" cy="274320"/>
          </a:xfrm>
          <a:prstGeom prst="rect">
            <a:avLst/>
          </a:prstGeom>
          <a:noFill/>
          <a:ln/>
        </p:spPr>
        <p:txBody>
          <a:bodyPr wrap="square" lIns="0" tIns="0" rIns="0" bIns="0" rtlCol="0" anchor="t"/>
          <a:lstStyle/>
          <a:p>
            <a:pPr marL="0" indent="0">
              <a:buNone/>
            </a:pPr>
            <a:r>
              <a:rPr lang="en-US" sz="1400" dirty="0">
                <a:solidFill>
                  <a:schemeClr val="bg1"/>
                </a:solidFill>
              </a:rPr>
              <a:t>14 ratings, Wi-Fi to cleanliness</a:t>
            </a:r>
            <a:endParaRPr lang="en-US" sz="1400" dirty="0"/>
          </a:p>
        </p:txBody>
      </p:sp>
      <p:sp>
        <p:nvSpPr>
          <p:cNvPr id="39" name="Text 37"/>
          <p:cNvSpPr txBox="1"/>
          <p:nvPr/>
        </p:nvSpPr>
        <p:spPr>
          <a:xfrm>
            <a:off x="5623560" y="3374136"/>
            <a:ext cx="2834640" cy="182880"/>
          </a:xfrm>
          <a:prstGeom prst="rect">
            <a:avLst/>
          </a:prstGeom>
          <a:noFill/>
          <a:ln/>
        </p:spPr>
        <p:txBody>
          <a:bodyPr wrap="square" lIns="0" tIns="0" rIns="0" bIns="0" rtlCol="0" anchor="t"/>
          <a:lstStyle/>
          <a:p>
            <a:pPr marL="0" indent="0">
              <a:buNone/>
            </a:pPr>
            <a:r>
              <a:rPr lang="en-US" sz="1000" b="1" kern="0" spc="300" dirty="0">
                <a:solidFill>
                  <a:schemeClr val="accent4"/>
                </a:solidFill>
              </a:rPr>
              <a:t>DELAYS</a:t>
            </a:r>
            <a:endParaRPr lang="en-US" sz="1000" dirty="0"/>
          </a:p>
        </p:txBody>
      </p:sp>
      <p:sp>
        <p:nvSpPr>
          <p:cNvPr id="40" name="Text 38"/>
          <p:cNvSpPr txBox="1"/>
          <p:nvPr/>
        </p:nvSpPr>
        <p:spPr>
          <a:xfrm>
            <a:off x="5623560" y="3557016"/>
            <a:ext cx="2926080" cy="274320"/>
          </a:xfrm>
          <a:prstGeom prst="rect">
            <a:avLst/>
          </a:prstGeom>
          <a:noFill/>
          <a:ln/>
        </p:spPr>
        <p:txBody>
          <a:bodyPr wrap="square" lIns="0" tIns="0" rIns="0" bIns="0" rtlCol="0" anchor="t"/>
          <a:lstStyle/>
          <a:p>
            <a:pPr marL="0" indent="0">
              <a:buNone/>
            </a:pPr>
            <a:r>
              <a:rPr lang="en-US" sz="1400" dirty="0">
                <a:solidFill>
                  <a:schemeClr val="bg1"/>
                </a:solidFill>
              </a:rPr>
              <a:t>Departure and arrival minutes</a:t>
            </a:r>
            <a:endParaRPr lang="en-US" sz="1400" dirty="0"/>
          </a:p>
        </p:txBody>
      </p:sp>
      <p:sp>
        <p:nvSpPr>
          <p:cNvPr id="41" name="Text 39"/>
          <p:cNvSpPr txBox="1"/>
          <p:nvPr/>
        </p:nvSpPr>
        <p:spPr>
          <a:xfrm>
            <a:off x="5623560" y="3904488"/>
            <a:ext cx="2834640" cy="182880"/>
          </a:xfrm>
          <a:prstGeom prst="rect">
            <a:avLst/>
          </a:prstGeom>
          <a:noFill/>
          <a:ln/>
        </p:spPr>
        <p:txBody>
          <a:bodyPr wrap="square" lIns="0" tIns="0" rIns="0" bIns="0" rtlCol="0" anchor="t"/>
          <a:lstStyle/>
          <a:p>
            <a:pPr marL="0" indent="0">
              <a:buNone/>
            </a:pPr>
            <a:r>
              <a:rPr lang="en-US" sz="1000" b="1" kern="0" spc="300" dirty="0">
                <a:solidFill>
                  <a:schemeClr val="accent4"/>
                </a:solidFill>
              </a:rPr>
              <a:t>TARGET</a:t>
            </a:r>
            <a:endParaRPr lang="en-US" sz="1000" dirty="0"/>
          </a:p>
        </p:txBody>
      </p:sp>
      <p:sp>
        <p:nvSpPr>
          <p:cNvPr id="42" name="Text 40"/>
          <p:cNvSpPr txBox="1"/>
          <p:nvPr/>
        </p:nvSpPr>
        <p:spPr>
          <a:xfrm>
            <a:off x="5623560" y="4087368"/>
            <a:ext cx="2926080" cy="274320"/>
          </a:xfrm>
          <a:prstGeom prst="rect">
            <a:avLst/>
          </a:prstGeom>
          <a:noFill/>
          <a:ln/>
        </p:spPr>
        <p:txBody>
          <a:bodyPr wrap="square" lIns="0" tIns="0" rIns="0" bIns="0" rtlCol="0" anchor="t"/>
          <a:lstStyle/>
          <a:p>
            <a:pPr marL="0" indent="0">
              <a:buNone/>
            </a:pPr>
            <a:r>
              <a:rPr lang="en-US" sz="1400" dirty="0">
                <a:solidFill>
                  <a:schemeClr val="bg1"/>
                </a:solidFill>
              </a:rPr>
              <a:t>Satisfied vs neutral/dissatisfied</a:t>
            </a:r>
            <a:endParaRPr lang="en-US" sz="1400" dirty="0"/>
          </a:p>
        </p:txBody>
      </p:sp>
      <p:sp>
        <p:nvSpPr>
          <p:cNvPr id="43"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rPr>
              <a:t>The clean-up flight path</a:t>
            </a:r>
            <a:endParaRPr lang="en-US" sz="3200" dirty="0"/>
          </a:p>
        </p:txBody>
      </p:sp>
      <p:sp>
        <p:nvSpPr>
          <p:cNvPr id="3" name="Flight path"/>
          <p:cNvSpPr/>
          <p:nvPr/>
        </p:nvSpPr>
        <p:spPr>
          <a:xfrm>
            <a:off x="914400" y="1600200"/>
            <a:ext cx="7772400" cy="0"/>
          </a:xfrm>
          <a:prstGeom prst="line">
            <a:avLst/>
          </a:prstGeom>
          <a:noFill/>
          <a:ln w="25400">
            <a:solidFill>
              <a:schemeClr val="accent4"/>
            </a:solidFill>
            <a:prstDash val="sysDash"/>
          </a:ln>
        </p:spPr>
        <p:txBody>
          <a:bodyPr/>
          <a:lstStyle/>
          <a:p>
            <a:endParaRPr lang="en-IN"/>
          </a:p>
        </p:txBody>
      </p:sp>
      <p:sp>
        <p:nvSpPr>
          <p:cNvPr id="4" name="Plane badge"/>
          <p:cNvSpPr/>
          <p:nvPr/>
        </p:nvSpPr>
        <p:spPr>
          <a:xfrm>
            <a:off x="457200" y="1371600"/>
            <a:ext cx="457200" cy="457200"/>
          </a:xfrm>
          <a:prstGeom prst="ellipse">
            <a:avLst/>
          </a:prstGeom>
          <a:solidFill>
            <a:schemeClr val="accent1"/>
          </a:solidFill>
          <a:ln w="12700">
            <a:solidFill>
              <a:schemeClr val="accent1"/>
            </a:solidFill>
            <a:prstDash val="solid"/>
          </a:ln>
        </p:spPr>
        <p:txBody>
          <a:bodyPr/>
          <a:lstStyle/>
          <a:p>
            <a:endParaRPr lang="en-IN"/>
          </a:p>
        </p:txBody>
      </p:sp>
      <p:pic>
        <p:nvPicPr>
          <p:cNvPr id="5" name="Image 0" descr="Airplane icon"/>
          <p:cNvPicPr>
            <a:picLocks noChangeAspect="1"/>
          </p:cNvPicPr>
          <p:nvPr/>
        </p:nvPicPr>
        <p:blipFill>
          <a:blip r:embed="rId3"/>
          <a:stretch>
            <a:fillRect/>
          </a:stretch>
        </p:blipFill>
        <p:spPr>
          <a:xfrm>
            <a:off x="566928" y="1481328"/>
            <a:ext cx="237744" cy="237744"/>
          </a:xfrm>
          <a:prstGeom prst="rect">
            <a:avLst/>
          </a:prstGeom>
        </p:spPr>
      </p:pic>
      <p:sp>
        <p:nvSpPr>
          <p:cNvPr id="6" name="Waypoint 1"/>
          <p:cNvSpPr/>
          <p:nvPr/>
        </p:nvSpPr>
        <p:spPr>
          <a:xfrm>
            <a:off x="1207008" y="1389888"/>
            <a:ext cx="420624" cy="420624"/>
          </a:xfrm>
          <a:prstGeom prst="ellipse">
            <a:avLst/>
          </a:prstGeom>
          <a:solidFill>
            <a:schemeClr val="accent2"/>
          </a:solidFill>
          <a:ln w="38100">
            <a:solidFill>
              <a:schemeClr val="tx1"/>
            </a:solidFill>
            <a:prstDash val="solid"/>
          </a:ln>
        </p:spPr>
        <p:txBody>
          <a:bodyPr/>
          <a:lstStyle/>
          <a:p>
            <a:endParaRPr lang="en-IN"/>
          </a:p>
        </p:txBody>
      </p:sp>
      <p:sp>
        <p:nvSpPr>
          <p:cNvPr id="7" name="Text 4"/>
          <p:cNvSpPr txBox="1"/>
          <p:nvPr/>
        </p:nvSpPr>
        <p:spPr>
          <a:xfrm>
            <a:off x="1207008" y="1389888"/>
            <a:ext cx="420624" cy="420624"/>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8" name="Ticket card"/>
          <p:cNvSpPr/>
          <p:nvPr/>
        </p:nvSpPr>
        <p:spPr>
          <a:xfrm>
            <a:off x="457200" y="2103120"/>
            <a:ext cx="1920240" cy="2377440"/>
          </a:xfrm>
          <a:prstGeom prst="roundRect">
            <a:avLst>
              <a:gd name="adj" fmla="val 5714"/>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9" name="Text 6"/>
          <p:cNvSpPr txBox="1"/>
          <p:nvPr/>
        </p:nvSpPr>
        <p:spPr>
          <a:xfrm>
            <a:off x="685800" y="2212848"/>
            <a:ext cx="146304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STEP 1</a:t>
            </a:r>
            <a:endParaRPr lang="en-US" sz="1000" dirty="0"/>
          </a:p>
        </p:txBody>
      </p:sp>
      <p:sp>
        <p:nvSpPr>
          <p:cNvPr id="10" name="Perforation"/>
          <p:cNvSpPr/>
          <p:nvPr/>
        </p:nvSpPr>
        <p:spPr>
          <a:xfrm>
            <a:off x="640080" y="2578608"/>
            <a:ext cx="1554480" cy="0"/>
          </a:xfrm>
          <a:prstGeom prst="line">
            <a:avLst/>
          </a:prstGeom>
          <a:noFill/>
          <a:ln w="15875">
            <a:solidFill>
              <a:srgbClr val="C9CEE3"/>
            </a:solidFill>
            <a:prstDash val="dash"/>
          </a:ln>
        </p:spPr>
        <p:txBody>
          <a:bodyPr/>
          <a:lstStyle/>
          <a:p>
            <a:endParaRPr lang="en-IN"/>
          </a:p>
        </p:txBody>
      </p:sp>
      <p:sp>
        <p:nvSpPr>
          <p:cNvPr id="11" name="Notch left"/>
          <p:cNvSpPr/>
          <p:nvPr/>
        </p:nvSpPr>
        <p:spPr>
          <a:xfrm>
            <a:off x="329184" y="2450592"/>
            <a:ext cx="256032" cy="256032"/>
          </a:xfrm>
          <a:prstGeom prst="ellipse">
            <a:avLst/>
          </a:prstGeom>
          <a:solidFill>
            <a:schemeClr val="tx1"/>
          </a:solidFill>
          <a:ln w="12700">
            <a:solidFill>
              <a:schemeClr val="tx1"/>
            </a:solidFill>
            <a:prstDash val="solid"/>
          </a:ln>
        </p:spPr>
        <p:txBody>
          <a:bodyPr/>
          <a:lstStyle/>
          <a:p>
            <a:endParaRPr lang="en-IN"/>
          </a:p>
        </p:txBody>
      </p:sp>
      <p:sp>
        <p:nvSpPr>
          <p:cNvPr id="12" name="Notch right"/>
          <p:cNvSpPr/>
          <p:nvPr/>
        </p:nvSpPr>
        <p:spPr>
          <a:xfrm>
            <a:off x="2249424" y="2450592"/>
            <a:ext cx="256032" cy="256032"/>
          </a:xfrm>
          <a:prstGeom prst="ellipse">
            <a:avLst/>
          </a:prstGeom>
          <a:solidFill>
            <a:schemeClr val="tx1"/>
          </a:solidFill>
          <a:ln w="12700">
            <a:solidFill>
              <a:schemeClr val="tx1"/>
            </a:solidFill>
            <a:prstDash val="solid"/>
          </a:ln>
        </p:spPr>
        <p:txBody>
          <a:bodyPr/>
          <a:lstStyle/>
          <a:p>
            <a:endParaRPr lang="en-IN"/>
          </a:p>
        </p:txBody>
      </p:sp>
      <p:sp>
        <p:nvSpPr>
          <p:cNvPr id="13" name="Text 10"/>
          <p:cNvSpPr txBox="1"/>
          <p:nvPr/>
        </p:nvSpPr>
        <p:spPr>
          <a:xfrm>
            <a:off x="640080" y="2734056"/>
            <a:ext cx="1554480" cy="64008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Drop the index column</a:t>
            </a:r>
            <a:endParaRPr lang="en-US" sz="1600" dirty="0"/>
          </a:p>
        </p:txBody>
      </p:sp>
      <p:sp>
        <p:nvSpPr>
          <p:cNvPr id="14" name="Text 11"/>
          <p:cNvSpPr txBox="1"/>
          <p:nvPr/>
        </p:nvSpPr>
        <p:spPr>
          <a:xfrm>
            <a:off x="640080" y="3465576"/>
            <a:ext cx="1554480" cy="1005840"/>
          </a:xfrm>
          <a:prstGeom prst="rect">
            <a:avLst/>
          </a:prstGeom>
          <a:noFill/>
          <a:ln/>
        </p:spPr>
        <p:txBody>
          <a:bodyPr wrap="square" lIns="0" tIns="0" rIns="0" bIns="0" rtlCol="0" anchor="t"/>
          <a:lstStyle/>
          <a:p>
            <a:pPr marL="0" indent="0">
              <a:buNone/>
            </a:pPr>
            <a:r>
              <a:rPr lang="en-US" sz="1400" dirty="0">
                <a:solidFill>
                  <a:schemeClr val="accent5"/>
                </a:solidFill>
              </a:rPr>
              <a:t>Removed the redundant 'Unnamed: 0' column.</a:t>
            </a:r>
            <a:endParaRPr lang="en-US" sz="1400" dirty="0"/>
          </a:p>
        </p:txBody>
      </p:sp>
      <p:sp>
        <p:nvSpPr>
          <p:cNvPr id="15" name="Waypoint 2"/>
          <p:cNvSpPr/>
          <p:nvPr/>
        </p:nvSpPr>
        <p:spPr>
          <a:xfrm>
            <a:off x="3310128" y="1389888"/>
            <a:ext cx="420624" cy="420624"/>
          </a:xfrm>
          <a:prstGeom prst="ellipse">
            <a:avLst/>
          </a:prstGeom>
          <a:solidFill>
            <a:schemeClr val="accent2"/>
          </a:solidFill>
          <a:ln w="38100">
            <a:solidFill>
              <a:schemeClr val="tx1"/>
            </a:solidFill>
            <a:prstDash val="solid"/>
          </a:ln>
        </p:spPr>
        <p:txBody>
          <a:bodyPr/>
          <a:lstStyle/>
          <a:p>
            <a:endParaRPr lang="en-IN"/>
          </a:p>
        </p:txBody>
      </p:sp>
      <p:sp>
        <p:nvSpPr>
          <p:cNvPr id="16" name="Text 13"/>
          <p:cNvSpPr txBox="1"/>
          <p:nvPr/>
        </p:nvSpPr>
        <p:spPr>
          <a:xfrm>
            <a:off x="3310128" y="1389888"/>
            <a:ext cx="420624" cy="420624"/>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17" name="Ticket card"/>
          <p:cNvSpPr/>
          <p:nvPr/>
        </p:nvSpPr>
        <p:spPr>
          <a:xfrm>
            <a:off x="2560320" y="2103120"/>
            <a:ext cx="1920240" cy="2377440"/>
          </a:xfrm>
          <a:prstGeom prst="roundRect">
            <a:avLst>
              <a:gd name="adj" fmla="val 5714"/>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18" name="Text 15"/>
          <p:cNvSpPr txBox="1"/>
          <p:nvPr/>
        </p:nvSpPr>
        <p:spPr>
          <a:xfrm>
            <a:off x="2788920" y="2212848"/>
            <a:ext cx="146304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STEP 2</a:t>
            </a:r>
            <a:endParaRPr lang="en-US" sz="1000" dirty="0"/>
          </a:p>
        </p:txBody>
      </p:sp>
      <p:sp>
        <p:nvSpPr>
          <p:cNvPr id="19" name="Perforation"/>
          <p:cNvSpPr/>
          <p:nvPr/>
        </p:nvSpPr>
        <p:spPr>
          <a:xfrm>
            <a:off x="2743200" y="2578608"/>
            <a:ext cx="1554480" cy="0"/>
          </a:xfrm>
          <a:prstGeom prst="line">
            <a:avLst/>
          </a:prstGeom>
          <a:noFill/>
          <a:ln w="15875">
            <a:solidFill>
              <a:srgbClr val="C9CEE3"/>
            </a:solidFill>
            <a:prstDash val="dash"/>
          </a:ln>
        </p:spPr>
        <p:txBody>
          <a:bodyPr/>
          <a:lstStyle/>
          <a:p>
            <a:endParaRPr lang="en-IN"/>
          </a:p>
        </p:txBody>
      </p:sp>
      <p:sp>
        <p:nvSpPr>
          <p:cNvPr id="20" name="Notch left"/>
          <p:cNvSpPr/>
          <p:nvPr/>
        </p:nvSpPr>
        <p:spPr>
          <a:xfrm>
            <a:off x="2432304" y="2450592"/>
            <a:ext cx="256032" cy="256032"/>
          </a:xfrm>
          <a:prstGeom prst="ellipse">
            <a:avLst/>
          </a:prstGeom>
          <a:solidFill>
            <a:schemeClr val="tx1"/>
          </a:solidFill>
          <a:ln w="12700">
            <a:solidFill>
              <a:schemeClr val="tx1"/>
            </a:solidFill>
            <a:prstDash val="solid"/>
          </a:ln>
        </p:spPr>
        <p:txBody>
          <a:bodyPr/>
          <a:lstStyle/>
          <a:p>
            <a:endParaRPr lang="en-IN"/>
          </a:p>
        </p:txBody>
      </p:sp>
      <p:sp>
        <p:nvSpPr>
          <p:cNvPr id="21" name="Notch right"/>
          <p:cNvSpPr/>
          <p:nvPr/>
        </p:nvSpPr>
        <p:spPr>
          <a:xfrm>
            <a:off x="4352544" y="2450592"/>
            <a:ext cx="256032" cy="256032"/>
          </a:xfrm>
          <a:prstGeom prst="ellipse">
            <a:avLst/>
          </a:prstGeom>
          <a:solidFill>
            <a:schemeClr val="tx1"/>
          </a:solidFill>
          <a:ln w="12700">
            <a:solidFill>
              <a:schemeClr val="tx1"/>
            </a:solidFill>
            <a:prstDash val="solid"/>
          </a:ln>
        </p:spPr>
        <p:txBody>
          <a:bodyPr/>
          <a:lstStyle/>
          <a:p>
            <a:endParaRPr lang="en-IN"/>
          </a:p>
        </p:txBody>
      </p:sp>
      <p:sp>
        <p:nvSpPr>
          <p:cNvPr id="22" name="Text 19"/>
          <p:cNvSpPr txBox="1"/>
          <p:nvPr/>
        </p:nvSpPr>
        <p:spPr>
          <a:xfrm>
            <a:off x="2743200" y="2734056"/>
            <a:ext cx="1554480" cy="64008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Remove missing values</a:t>
            </a:r>
            <a:endParaRPr lang="en-US" sz="1600" dirty="0"/>
          </a:p>
        </p:txBody>
      </p:sp>
      <p:sp>
        <p:nvSpPr>
          <p:cNvPr id="23" name="Text 20"/>
          <p:cNvSpPr txBox="1"/>
          <p:nvPr/>
        </p:nvSpPr>
        <p:spPr>
          <a:xfrm>
            <a:off x="2743200" y="3465576"/>
            <a:ext cx="1554480" cy="1005840"/>
          </a:xfrm>
          <a:prstGeom prst="rect">
            <a:avLst/>
          </a:prstGeom>
          <a:noFill/>
          <a:ln/>
        </p:spPr>
        <p:txBody>
          <a:bodyPr wrap="square" lIns="0" tIns="0" rIns="0" bIns="0" rtlCol="0" anchor="t"/>
          <a:lstStyle/>
          <a:p>
            <a:pPr marL="0" indent="0">
              <a:buNone/>
            </a:pPr>
            <a:r>
              <a:rPr lang="en-US" sz="1400" dirty="0">
                <a:solidFill>
                  <a:schemeClr val="accent5"/>
                </a:solidFill>
              </a:rPr>
              <a:t>Dropped 83 rows with no Arrival Delay (0.3%).</a:t>
            </a:r>
            <a:endParaRPr lang="en-US" sz="1400" dirty="0"/>
          </a:p>
        </p:txBody>
      </p:sp>
      <p:sp>
        <p:nvSpPr>
          <p:cNvPr id="24" name="Waypoint 3"/>
          <p:cNvSpPr/>
          <p:nvPr/>
        </p:nvSpPr>
        <p:spPr>
          <a:xfrm>
            <a:off x="5413248" y="1389888"/>
            <a:ext cx="420624" cy="420624"/>
          </a:xfrm>
          <a:prstGeom prst="ellipse">
            <a:avLst/>
          </a:prstGeom>
          <a:solidFill>
            <a:schemeClr val="accent2"/>
          </a:solidFill>
          <a:ln w="38100">
            <a:solidFill>
              <a:schemeClr val="tx1"/>
            </a:solidFill>
            <a:prstDash val="solid"/>
          </a:ln>
        </p:spPr>
        <p:txBody>
          <a:bodyPr/>
          <a:lstStyle/>
          <a:p>
            <a:endParaRPr lang="en-IN"/>
          </a:p>
        </p:txBody>
      </p:sp>
      <p:sp>
        <p:nvSpPr>
          <p:cNvPr id="25" name="Text 22"/>
          <p:cNvSpPr txBox="1"/>
          <p:nvPr/>
        </p:nvSpPr>
        <p:spPr>
          <a:xfrm>
            <a:off x="5413248" y="1389888"/>
            <a:ext cx="420624" cy="420624"/>
          </a:xfrm>
          <a:prstGeom prst="rect">
            <a:avLst/>
          </a:prstGeom>
          <a:no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26" name="Ticket card"/>
          <p:cNvSpPr/>
          <p:nvPr/>
        </p:nvSpPr>
        <p:spPr>
          <a:xfrm>
            <a:off x="4663440" y="2103120"/>
            <a:ext cx="1920240" cy="2377440"/>
          </a:xfrm>
          <a:prstGeom prst="roundRect">
            <a:avLst>
              <a:gd name="adj" fmla="val 5714"/>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27" name="Text 24"/>
          <p:cNvSpPr txBox="1"/>
          <p:nvPr/>
        </p:nvSpPr>
        <p:spPr>
          <a:xfrm>
            <a:off x="4892040" y="2212848"/>
            <a:ext cx="146304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STEP 3</a:t>
            </a:r>
            <a:endParaRPr lang="en-US" sz="1000" dirty="0"/>
          </a:p>
        </p:txBody>
      </p:sp>
      <p:sp>
        <p:nvSpPr>
          <p:cNvPr id="28" name="Perforation"/>
          <p:cNvSpPr/>
          <p:nvPr/>
        </p:nvSpPr>
        <p:spPr>
          <a:xfrm>
            <a:off x="4846320" y="2578608"/>
            <a:ext cx="1554480" cy="0"/>
          </a:xfrm>
          <a:prstGeom prst="line">
            <a:avLst/>
          </a:prstGeom>
          <a:noFill/>
          <a:ln w="15875">
            <a:solidFill>
              <a:srgbClr val="C9CEE3"/>
            </a:solidFill>
            <a:prstDash val="dash"/>
          </a:ln>
        </p:spPr>
        <p:txBody>
          <a:bodyPr/>
          <a:lstStyle/>
          <a:p>
            <a:endParaRPr lang="en-IN"/>
          </a:p>
        </p:txBody>
      </p:sp>
      <p:sp>
        <p:nvSpPr>
          <p:cNvPr id="29" name="Notch left"/>
          <p:cNvSpPr/>
          <p:nvPr/>
        </p:nvSpPr>
        <p:spPr>
          <a:xfrm>
            <a:off x="4535424" y="2450592"/>
            <a:ext cx="256032" cy="256032"/>
          </a:xfrm>
          <a:prstGeom prst="ellipse">
            <a:avLst/>
          </a:prstGeom>
          <a:solidFill>
            <a:schemeClr val="tx1"/>
          </a:solidFill>
          <a:ln w="12700">
            <a:solidFill>
              <a:schemeClr val="tx1"/>
            </a:solidFill>
            <a:prstDash val="solid"/>
          </a:ln>
        </p:spPr>
        <p:txBody>
          <a:bodyPr/>
          <a:lstStyle/>
          <a:p>
            <a:endParaRPr lang="en-IN"/>
          </a:p>
        </p:txBody>
      </p:sp>
      <p:sp>
        <p:nvSpPr>
          <p:cNvPr id="30" name="Notch right"/>
          <p:cNvSpPr/>
          <p:nvPr/>
        </p:nvSpPr>
        <p:spPr>
          <a:xfrm>
            <a:off x="6455664" y="2450592"/>
            <a:ext cx="256032" cy="256032"/>
          </a:xfrm>
          <a:prstGeom prst="ellipse">
            <a:avLst/>
          </a:prstGeom>
          <a:solidFill>
            <a:schemeClr val="tx1"/>
          </a:solidFill>
          <a:ln w="12700">
            <a:solidFill>
              <a:schemeClr val="tx1"/>
            </a:solidFill>
            <a:prstDash val="solid"/>
          </a:ln>
        </p:spPr>
        <p:txBody>
          <a:bodyPr/>
          <a:lstStyle/>
          <a:p>
            <a:endParaRPr lang="en-IN"/>
          </a:p>
        </p:txBody>
      </p:sp>
      <p:sp>
        <p:nvSpPr>
          <p:cNvPr id="31" name="Text 28"/>
          <p:cNvSpPr txBox="1"/>
          <p:nvPr/>
        </p:nvSpPr>
        <p:spPr>
          <a:xfrm>
            <a:off x="4846320" y="2734056"/>
            <a:ext cx="1554480" cy="64008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Fix the data type</a:t>
            </a:r>
            <a:endParaRPr lang="en-US" sz="1600" dirty="0"/>
          </a:p>
        </p:txBody>
      </p:sp>
      <p:sp>
        <p:nvSpPr>
          <p:cNvPr id="32" name="Text 29"/>
          <p:cNvSpPr txBox="1"/>
          <p:nvPr/>
        </p:nvSpPr>
        <p:spPr>
          <a:xfrm>
            <a:off x="4846320" y="3465576"/>
            <a:ext cx="1554480" cy="1005840"/>
          </a:xfrm>
          <a:prstGeom prst="rect">
            <a:avLst/>
          </a:prstGeom>
          <a:noFill/>
          <a:ln/>
        </p:spPr>
        <p:txBody>
          <a:bodyPr wrap="square" lIns="0" tIns="0" rIns="0" bIns="0" rtlCol="0" anchor="t"/>
          <a:lstStyle/>
          <a:p>
            <a:pPr marL="0" indent="0">
              <a:buNone/>
            </a:pPr>
            <a:r>
              <a:rPr lang="en-US" sz="1400" dirty="0">
                <a:solidFill>
                  <a:schemeClr val="accent5"/>
                </a:solidFill>
              </a:rPr>
              <a:t>Cast Arrival Delay from float to integer.</a:t>
            </a:r>
            <a:endParaRPr lang="en-US" sz="1400" dirty="0"/>
          </a:p>
        </p:txBody>
      </p:sp>
      <p:sp>
        <p:nvSpPr>
          <p:cNvPr id="33" name="Waypoint 4"/>
          <p:cNvSpPr/>
          <p:nvPr/>
        </p:nvSpPr>
        <p:spPr>
          <a:xfrm>
            <a:off x="7516368" y="1389888"/>
            <a:ext cx="420624" cy="420624"/>
          </a:xfrm>
          <a:prstGeom prst="ellipse">
            <a:avLst/>
          </a:prstGeom>
          <a:solidFill>
            <a:schemeClr val="accent2"/>
          </a:solidFill>
          <a:ln w="38100">
            <a:solidFill>
              <a:schemeClr val="tx1"/>
            </a:solidFill>
            <a:prstDash val="solid"/>
          </a:ln>
        </p:spPr>
        <p:txBody>
          <a:bodyPr/>
          <a:lstStyle/>
          <a:p>
            <a:endParaRPr lang="en-IN"/>
          </a:p>
        </p:txBody>
      </p:sp>
      <p:sp>
        <p:nvSpPr>
          <p:cNvPr id="34" name="Text 31"/>
          <p:cNvSpPr txBox="1"/>
          <p:nvPr/>
        </p:nvSpPr>
        <p:spPr>
          <a:xfrm>
            <a:off x="7516368" y="1389888"/>
            <a:ext cx="420624" cy="420624"/>
          </a:xfrm>
          <a:prstGeom prst="rect">
            <a:avLst/>
          </a:prstGeom>
          <a:no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35" name="Ticket card"/>
          <p:cNvSpPr/>
          <p:nvPr/>
        </p:nvSpPr>
        <p:spPr>
          <a:xfrm>
            <a:off x="6766560" y="2103120"/>
            <a:ext cx="1920240" cy="2377440"/>
          </a:xfrm>
          <a:prstGeom prst="roundRect">
            <a:avLst>
              <a:gd name="adj" fmla="val 5714"/>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36" name="Text 33"/>
          <p:cNvSpPr txBox="1"/>
          <p:nvPr/>
        </p:nvSpPr>
        <p:spPr>
          <a:xfrm>
            <a:off x="6995160" y="2212848"/>
            <a:ext cx="146304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STEP 4</a:t>
            </a:r>
            <a:endParaRPr lang="en-US" sz="1000" dirty="0"/>
          </a:p>
        </p:txBody>
      </p:sp>
      <p:sp>
        <p:nvSpPr>
          <p:cNvPr id="37" name="Perforation"/>
          <p:cNvSpPr/>
          <p:nvPr/>
        </p:nvSpPr>
        <p:spPr>
          <a:xfrm>
            <a:off x="6949440" y="2578608"/>
            <a:ext cx="1554480" cy="0"/>
          </a:xfrm>
          <a:prstGeom prst="line">
            <a:avLst/>
          </a:prstGeom>
          <a:noFill/>
          <a:ln w="15875">
            <a:solidFill>
              <a:srgbClr val="C9CEE3"/>
            </a:solidFill>
            <a:prstDash val="dash"/>
          </a:ln>
        </p:spPr>
        <p:txBody>
          <a:bodyPr/>
          <a:lstStyle/>
          <a:p>
            <a:endParaRPr lang="en-IN"/>
          </a:p>
        </p:txBody>
      </p:sp>
      <p:sp>
        <p:nvSpPr>
          <p:cNvPr id="38" name="Notch left"/>
          <p:cNvSpPr/>
          <p:nvPr/>
        </p:nvSpPr>
        <p:spPr>
          <a:xfrm>
            <a:off x="6638544" y="2450592"/>
            <a:ext cx="256032" cy="256032"/>
          </a:xfrm>
          <a:prstGeom prst="ellipse">
            <a:avLst/>
          </a:prstGeom>
          <a:solidFill>
            <a:schemeClr val="tx1"/>
          </a:solidFill>
          <a:ln w="12700">
            <a:solidFill>
              <a:schemeClr val="tx1"/>
            </a:solidFill>
            <a:prstDash val="solid"/>
          </a:ln>
        </p:spPr>
        <p:txBody>
          <a:bodyPr/>
          <a:lstStyle/>
          <a:p>
            <a:endParaRPr lang="en-IN"/>
          </a:p>
        </p:txBody>
      </p:sp>
      <p:sp>
        <p:nvSpPr>
          <p:cNvPr id="39" name="Notch right"/>
          <p:cNvSpPr/>
          <p:nvPr/>
        </p:nvSpPr>
        <p:spPr>
          <a:xfrm>
            <a:off x="8558784" y="2450592"/>
            <a:ext cx="256032" cy="256032"/>
          </a:xfrm>
          <a:prstGeom prst="ellipse">
            <a:avLst/>
          </a:prstGeom>
          <a:solidFill>
            <a:schemeClr val="tx1"/>
          </a:solidFill>
          <a:ln w="12700">
            <a:solidFill>
              <a:schemeClr val="tx1"/>
            </a:solidFill>
            <a:prstDash val="solid"/>
          </a:ln>
        </p:spPr>
        <p:txBody>
          <a:bodyPr/>
          <a:lstStyle/>
          <a:p>
            <a:endParaRPr lang="en-IN"/>
          </a:p>
        </p:txBody>
      </p:sp>
      <p:sp>
        <p:nvSpPr>
          <p:cNvPr id="40" name="Text 37"/>
          <p:cNvSpPr txBox="1"/>
          <p:nvPr/>
        </p:nvSpPr>
        <p:spPr>
          <a:xfrm>
            <a:off x="6949440" y="2734056"/>
            <a:ext cx="1554480" cy="64008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Engineer a score</a:t>
            </a:r>
            <a:endParaRPr lang="en-US" sz="1600" dirty="0"/>
          </a:p>
        </p:txBody>
      </p:sp>
      <p:sp>
        <p:nvSpPr>
          <p:cNvPr id="41" name="Text 38"/>
          <p:cNvSpPr txBox="1"/>
          <p:nvPr/>
        </p:nvSpPr>
        <p:spPr>
          <a:xfrm>
            <a:off x="6949440" y="3465576"/>
            <a:ext cx="1554480" cy="1005840"/>
          </a:xfrm>
          <a:prstGeom prst="rect">
            <a:avLst/>
          </a:prstGeom>
          <a:noFill/>
          <a:ln/>
        </p:spPr>
        <p:txBody>
          <a:bodyPr wrap="square" lIns="0" tIns="0" rIns="0" bIns="0" rtlCol="0" anchor="t"/>
          <a:lstStyle/>
          <a:p>
            <a:pPr marL="0" indent="0">
              <a:buNone/>
            </a:pPr>
            <a:r>
              <a:rPr lang="en-US" sz="1400" dirty="0">
                <a:solidFill>
                  <a:schemeClr val="accent5"/>
                </a:solidFill>
              </a:rPr>
              <a:t>New column averaging the 14 service ratings per passenger.</a:t>
            </a:r>
            <a:endParaRPr lang="en-US" sz="1400" dirty="0"/>
          </a:p>
        </p:txBody>
      </p:sp>
      <p:sp>
        <p:nvSpPr>
          <p:cNvPr id="42"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rPr>
              <a:t>Only 43.9% landed satisfied</a:t>
            </a:r>
            <a:endParaRPr lang="en-US" sz="3200" dirty="0"/>
          </a:p>
        </p:txBody>
      </p:sp>
      <p:sp>
        <p:nvSpPr>
          <p:cNvPr id="3" name="Ticket card"/>
          <p:cNvSpPr/>
          <p:nvPr/>
        </p:nvSpPr>
        <p:spPr>
          <a:xfrm>
            <a:off x="457200" y="1188720"/>
            <a:ext cx="4206240" cy="3383280"/>
          </a:xfrm>
          <a:prstGeom prst="roundRect">
            <a:avLst>
              <a:gd name="adj" fmla="val 3243"/>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4" name="Text 2"/>
          <p:cNvSpPr txBox="1"/>
          <p:nvPr/>
        </p:nvSpPr>
        <p:spPr>
          <a:xfrm>
            <a:off x="685800" y="1298448"/>
            <a:ext cx="2607869"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OVERALL SATISFACTION</a:t>
            </a:r>
            <a:endParaRPr lang="en-US" sz="1000" dirty="0"/>
          </a:p>
        </p:txBody>
      </p:sp>
      <p:sp>
        <p:nvSpPr>
          <p:cNvPr id="5" name="Text 3"/>
          <p:cNvSpPr txBox="1"/>
          <p:nvPr/>
        </p:nvSpPr>
        <p:spPr>
          <a:xfrm>
            <a:off x="2980944" y="1298448"/>
            <a:ext cx="1453896" cy="256032"/>
          </a:xfrm>
          <a:prstGeom prst="rect">
            <a:avLst/>
          </a:prstGeom>
          <a:noFill/>
          <a:ln/>
        </p:spPr>
        <p:txBody>
          <a:bodyPr wrap="square" lIns="0" tIns="0" rIns="0" bIns="0" rtlCol="0" anchor="ctr"/>
          <a:lstStyle/>
          <a:p>
            <a:pPr marL="0" indent="0" algn="r">
              <a:buNone/>
            </a:pPr>
            <a:r>
              <a:rPr lang="en-US" sz="1000" b="1" kern="0" spc="300" dirty="0">
                <a:solidFill>
                  <a:schemeClr val="accent5"/>
                </a:solidFill>
              </a:rPr>
              <a:t>ALL FLIGHTS</a:t>
            </a:r>
            <a:endParaRPr lang="en-US" sz="1000" dirty="0"/>
          </a:p>
        </p:txBody>
      </p:sp>
      <p:sp>
        <p:nvSpPr>
          <p:cNvPr id="6" name="Perforation"/>
          <p:cNvSpPr/>
          <p:nvPr/>
        </p:nvSpPr>
        <p:spPr>
          <a:xfrm>
            <a:off x="640080" y="1664208"/>
            <a:ext cx="3840480" cy="0"/>
          </a:xfrm>
          <a:prstGeom prst="line">
            <a:avLst/>
          </a:prstGeom>
          <a:noFill/>
          <a:ln w="15875">
            <a:solidFill>
              <a:srgbClr val="C9CEE3"/>
            </a:solidFill>
            <a:prstDash val="dash"/>
          </a:ln>
        </p:spPr>
        <p:txBody>
          <a:bodyPr/>
          <a:lstStyle/>
          <a:p>
            <a:endParaRPr lang="en-IN"/>
          </a:p>
        </p:txBody>
      </p:sp>
      <p:sp>
        <p:nvSpPr>
          <p:cNvPr id="7" name="Notch left"/>
          <p:cNvSpPr/>
          <p:nvPr/>
        </p:nvSpPr>
        <p:spPr>
          <a:xfrm>
            <a:off x="329184" y="1536192"/>
            <a:ext cx="256032" cy="256032"/>
          </a:xfrm>
          <a:prstGeom prst="ellipse">
            <a:avLst/>
          </a:prstGeom>
          <a:solidFill>
            <a:schemeClr val="tx1"/>
          </a:solidFill>
          <a:ln w="12700">
            <a:solidFill>
              <a:schemeClr val="tx1"/>
            </a:solidFill>
            <a:prstDash val="solid"/>
          </a:ln>
        </p:spPr>
        <p:txBody>
          <a:bodyPr/>
          <a:lstStyle/>
          <a:p>
            <a:endParaRPr lang="en-IN"/>
          </a:p>
        </p:txBody>
      </p:sp>
      <p:sp>
        <p:nvSpPr>
          <p:cNvPr id="8" name="Notch right"/>
          <p:cNvSpPr/>
          <p:nvPr/>
        </p:nvSpPr>
        <p:spPr>
          <a:xfrm>
            <a:off x="4535424" y="1536192"/>
            <a:ext cx="256032" cy="256032"/>
          </a:xfrm>
          <a:prstGeom prst="ellipse">
            <a:avLst/>
          </a:prstGeom>
          <a:solidFill>
            <a:schemeClr val="tx1"/>
          </a:solidFill>
          <a:ln w="12700">
            <a:solidFill>
              <a:schemeClr val="tx1"/>
            </a:solidFill>
            <a:prstDash val="solid"/>
          </a:ln>
        </p:spPr>
        <p:txBody>
          <a:bodyPr/>
          <a:lstStyle/>
          <a:p>
            <a:endParaRPr lang="en-IN"/>
          </a:p>
        </p:txBody>
      </p:sp>
      <p:graphicFrame>
        <p:nvGraphicFramePr>
          <p:cNvPr id="9" name="Chart 0"/>
          <p:cNvGraphicFramePr/>
          <p:nvPr/>
        </p:nvGraphicFramePr>
        <p:xfrm>
          <a:off x="640080" y="1773936"/>
          <a:ext cx="38404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5029200" y="1234440"/>
            <a:ext cx="3657600" cy="731520"/>
          </a:xfrm>
          <a:prstGeom prst="rect">
            <a:avLst/>
          </a:prstGeom>
          <a:noFill/>
          <a:ln/>
        </p:spPr>
        <p:txBody>
          <a:bodyPr wrap="square" lIns="0" tIns="0" rIns="0" bIns="0" rtlCol="0" anchor="t"/>
          <a:lstStyle/>
          <a:p>
            <a:pPr marL="0" indent="0">
              <a:buNone/>
            </a:pPr>
            <a:r>
              <a:rPr lang="en-US" sz="4800" b="1" dirty="0">
                <a:solidFill>
                  <a:srgbClr val="2FD3BF"/>
                </a:solidFill>
                <a:latin typeface="Cambria" pitchFamily="34" charset="0"/>
                <a:ea typeface="Cambria" pitchFamily="34" charset="-122"/>
                <a:cs typeface="Cambria" pitchFamily="34" charset="-120"/>
              </a:rPr>
              <a:t>11,365</a:t>
            </a:r>
            <a:endParaRPr lang="en-US" sz="4800" dirty="0"/>
          </a:p>
        </p:txBody>
      </p:sp>
      <p:sp>
        <p:nvSpPr>
          <p:cNvPr id="11" name="Text 8"/>
          <p:cNvSpPr txBox="1"/>
          <p:nvPr/>
        </p:nvSpPr>
        <p:spPr>
          <a:xfrm>
            <a:off x="5029200" y="1965960"/>
            <a:ext cx="3657600" cy="274320"/>
          </a:xfrm>
          <a:prstGeom prst="rect">
            <a:avLst/>
          </a:prstGeom>
          <a:noFill/>
          <a:ln/>
        </p:spPr>
        <p:txBody>
          <a:bodyPr wrap="square" lIns="0" tIns="0" rIns="0" bIns="0" rtlCol="0" anchor="t"/>
          <a:lstStyle/>
          <a:p>
            <a:pPr marL="0" indent="0">
              <a:buNone/>
            </a:pPr>
            <a:r>
              <a:rPr lang="en-US" sz="1400" dirty="0">
                <a:solidFill>
                  <a:schemeClr val="bg1"/>
                </a:solidFill>
              </a:rPr>
              <a:t>passengers satisfied</a:t>
            </a:r>
            <a:endParaRPr lang="en-US" sz="1400" dirty="0"/>
          </a:p>
        </p:txBody>
      </p:sp>
      <p:sp>
        <p:nvSpPr>
          <p:cNvPr id="12" name="Text 9"/>
          <p:cNvSpPr txBox="1"/>
          <p:nvPr/>
        </p:nvSpPr>
        <p:spPr>
          <a:xfrm>
            <a:off x="5029200" y="2423160"/>
            <a:ext cx="3657600" cy="731520"/>
          </a:xfrm>
          <a:prstGeom prst="rect">
            <a:avLst/>
          </a:prstGeom>
          <a:noFill/>
          <a:ln/>
        </p:spPr>
        <p:txBody>
          <a:bodyPr wrap="square" lIns="0" tIns="0" rIns="0" bIns="0" rtlCol="0" anchor="t"/>
          <a:lstStyle/>
          <a:p>
            <a:pPr marL="0" indent="0">
              <a:buNone/>
            </a:pPr>
            <a:r>
              <a:rPr lang="en-US" sz="4800" b="1" dirty="0">
                <a:solidFill>
                  <a:schemeClr val="accent1"/>
                </a:solidFill>
                <a:latin typeface="Cambria" pitchFamily="34" charset="0"/>
                <a:ea typeface="Cambria" pitchFamily="34" charset="-122"/>
                <a:cs typeface="Cambria" pitchFamily="34" charset="-120"/>
              </a:rPr>
              <a:t>14,528</a:t>
            </a:r>
            <a:endParaRPr lang="en-US" sz="4800" dirty="0"/>
          </a:p>
        </p:txBody>
      </p:sp>
      <p:sp>
        <p:nvSpPr>
          <p:cNvPr id="13" name="Text 10"/>
          <p:cNvSpPr txBox="1"/>
          <p:nvPr/>
        </p:nvSpPr>
        <p:spPr>
          <a:xfrm>
            <a:off x="5029200" y="3154680"/>
            <a:ext cx="3657600" cy="274320"/>
          </a:xfrm>
          <a:prstGeom prst="rect">
            <a:avLst/>
          </a:prstGeom>
          <a:noFill/>
          <a:ln/>
        </p:spPr>
        <p:txBody>
          <a:bodyPr wrap="square" lIns="0" tIns="0" rIns="0" bIns="0" rtlCol="0" anchor="t"/>
          <a:lstStyle/>
          <a:p>
            <a:pPr marL="0" indent="0">
              <a:buNone/>
            </a:pPr>
            <a:r>
              <a:rPr lang="en-US" sz="1400" dirty="0">
                <a:solidFill>
                  <a:schemeClr val="bg1"/>
                </a:solidFill>
              </a:rPr>
              <a:t>neutral or dissatisfied</a:t>
            </a:r>
            <a:endParaRPr lang="en-US" sz="1400" dirty="0"/>
          </a:p>
        </p:txBody>
      </p:sp>
      <p:sp>
        <p:nvSpPr>
          <p:cNvPr id="14" name="Text 11"/>
          <p:cNvSpPr txBox="1"/>
          <p:nvPr/>
        </p:nvSpPr>
        <p:spPr>
          <a:xfrm>
            <a:off x="5029200" y="3657600"/>
            <a:ext cx="3657600" cy="731520"/>
          </a:xfrm>
          <a:prstGeom prst="rect">
            <a:avLst/>
          </a:prstGeom>
          <a:noFill/>
          <a:ln/>
        </p:spPr>
        <p:txBody>
          <a:bodyPr wrap="square" lIns="0" tIns="0" rIns="0" bIns="0" rtlCol="0" anchor="t"/>
          <a:lstStyle/>
          <a:p>
            <a:pPr marL="0" indent="0">
              <a:buNone/>
            </a:pPr>
            <a:r>
              <a:rPr lang="en-US" sz="1600" i="1" dirty="0">
                <a:solidFill>
                  <a:schemeClr val="accent4"/>
                </a:solidFill>
              </a:rPr>
              <a:t>More than half of passengers are not won over, so there is real headroom.</a:t>
            </a:r>
            <a:endParaRPr lang="en-US" sz="1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rPr>
              <a:t>Wi-Fi and booking pull the score down</a:t>
            </a:r>
            <a:endParaRPr lang="en-US" sz="3200" dirty="0"/>
          </a:p>
        </p:txBody>
      </p:sp>
      <p:sp>
        <p:nvSpPr>
          <p:cNvPr id="3" name="Ticket card"/>
          <p:cNvSpPr/>
          <p:nvPr/>
        </p:nvSpPr>
        <p:spPr>
          <a:xfrm>
            <a:off x="457200" y="1097280"/>
            <a:ext cx="5486400" cy="3520440"/>
          </a:xfrm>
          <a:prstGeom prst="roundRect">
            <a:avLst>
              <a:gd name="adj" fmla="val 3117"/>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4" name="Text 2"/>
          <p:cNvSpPr txBox="1"/>
          <p:nvPr/>
        </p:nvSpPr>
        <p:spPr>
          <a:xfrm>
            <a:off x="685800" y="1207008"/>
            <a:ext cx="3401568"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SERVICE SCORECARD</a:t>
            </a:r>
            <a:endParaRPr lang="en-US" sz="1000" dirty="0"/>
          </a:p>
        </p:txBody>
      </p:sp>
      <p:sp>
        <p:nvSpPr>
          <p:cNvPr id="5" name="Text 3"/>
          <p:cNvSpPr txBox="1"/>
          <p:nvPr/>
        </p:nvSpPr>
        <p:spPr>
          <a:xfrm>
            <a:off x="3749040" y="1207008"/>
            <a:ext cx="1965960" cy="256032"/>
          </a:xfrm>
          <a:prstGeom prst="rect">
            <a:avLst/>
          </a:prstGeom>
          <a:noFill/>
          <a:ln/>
        </p:spPr>
        <p:txBody>
          <a:bodyPr wrap="square" lIns="0" tIns="0" rIns="0" bIns="0" rtlCol="0" anchor="ctr"/>
          <a:lstStyle/>
          <a:p>
            <a:pPr marL="0" indent="0" algn="r">
              <a:buNone/>
            </a:pPr>
            <a:r>
              <a:rPr lang="en-US" sz="1000" b="1" kern="0" spc="300" dirty="0">
                <a:solidFill>
                  <a:schemeClr val="accent5"/>
                </a:solidFill>
              </a:rPr>
              <a:t>AVG RATING 0-5</a:t>
            </a:r>
            <a:endParaRPr lang="en-US" sz="1000" dirty="0"/>
          </a:p>
        </p:txBody>
      </p:sp>
      <p:sp>
        <p:nvSpPr>
          <p:cNvPr id="6" name="Perforation"/>
          <p:cNvSpPr/>
          <p:nvPr/>
        </p:nvSpPr>
        <p:spPr>
          <a:xfrm>
            <a:off x="640080" y="1572768"/>
            <a:ext cx="5120640" cy="0"/>
          </a:xfrm>
          <a:prstGeom prst="line">
            <a:avLst/>
          </a:prstGeom>
          <a:noFill/>
          <a:ln w="15875">
            <a:solidFill>
              <a:srgbClr val="C9CEE3"/>
            </a:solidFill>
            <a:prstDash val="dash"/>
          </a:ln>
        </p:spPr>
        <p:txBody>
          <a:bodyPr/>
          <a:lstStyle/>
          <a:p>
            <a:endParaRPr lang="en-IN"/>
          </a:p>
        </p:txBody>
      </p:sp>
      <p:sp>
        <p:nvSpPr>
          <p:cNvPr id="7" name="Notch left"/>
          <p:cNvSpPr/>
          <p:nvPr/>
        </p:nvSpPr>
        <p:spPr>
          <a:xfrm>
            <a:off x="329184" y="1444752"/>
            <a:ext cx="256032" cy="256032"/>
          </a:xfrm>
          <a:prstGeom prst="ellipse">
            <a:avLst/>
          </a:prstGeom>
          <a:solidFill>
            <a:schemeClr val="tx1"/>
          </a:solidFill>
          <a:ln w="12700">
            <a:solidFill>
              <a:schemeClr val="tx1"/>
            </a:solidFill>
            <a:prstDash val="solid"/>
          </a:ln>
        </p:spPr>
        <p:txBody>
          <a:bodyPr/>
          <a:lstStyle/>
          <a:p>
            <a:endParaRPr lang="en-IN"/>
          </a:p>
        </p:txBody>
      </p:sp>
      <p:sp>
        <p:nvSpPr>
          <p:cNvPr id="8" name="Notch right"/>
          <p:cNvSpPr/>
          <p:nvPr/>
        </p:nvSpPr>
        <p:spPr>
          <a:xfrm>
            <a:off x="5815584" y="1444752"/>
            <a:ext cx="256032" cy="256032"/>
          </a:xfrm>
          <a:prstGeom prst="ellipse">
            <a:avLst/>
          </a:prstGeom>
          <a:solidFill>
            <a:schemeClr val="tx1"/>
          </a:solidFill>
          <a:ln w="12700">
            <a:solidFill>
              <a:schemeClr val="tx1"/>
            </a:solidFill>
            <a:prstDash val="solid"/>
          </a:ln>
        </p:spPr>
        <p:txBody>
          <a:bodyPr/>
          <a:lstStyle/>
          <a:p>
            <a:endParaRPr lang="en-IN"/>
          </a:p>
        </p:txBody>
      </p:sp>
      <p:graphicFrame>
        <p:nvGraphicFramePr>
          <p:cNvPr id="9" name="Chart 0"/>
          <p:cNvGraphicFramePr/>
          <p:nvPr/>
        </p:nvGraphicFramePr>
        <p:xfrm>
          <a:off x="548640" y="1682496"/>
          <a:ext cx="530352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6355080" y="1188720"/>
            <a:ext cx="2286000" cy="228600"/>
          </a:xfrm>
          <a:prstGeom prst="rect">
            <a:avLst/>
          </a:prstGeom>
          <a:noFill/>
          <a:ln/>
        </p:spPr>
        <p:txBody>
          <a:bodyPr wrap="square" lIns="0" tIns="0" rIns="0" bIns="0" rtlCol="0" anchor="t"/>
          <a:lstStyle/>
          <a:p>
            <a:pPr marL="0" indent="0">
              <a:buNone/>
            </a:pPr>
            <a:r>
              <a:rPr lang="en-US" sz="1100" b="1" kern="0" spc="300" dirty="0">
                <a:solidFill>
                  <a:schemeClr val="accent1"/>
                </a:solidFill>
              </a:rPr>
              <a:t>WEAKEST</a:t>
            </a:r>
            <a:endParaRPr lang="en-US" sz="1100" dirty="0"/>
          </a:p>
        </p:txBody>
      </p:sp>
      <p:sp>
        <p:nvSpPr>
          <p:cNvPr id="11" name="Text 8"/>
          <p:cNvSpPr txBox="1"/>
          <p:nvPr/>
        </p:nvSpPr>
        <p:spPr>
          <a:xfrm>
            <a:off x="6355080" y="1463040"/>
            <a:ext cx="2286000" cy="32004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Inflight Wi-Fi</a:t>
            </a:r>
            <a:endParaRPr lang="en-US" sz="2000" dirty="0"/>
          </a:p>
        </p:txBody>
      </p:sp>
      <p:sp>
        <p:nvSpPr>
          <p:cNvPr id="12" name="Text 9"/>
          <p:cNvSpPr txBox="1"/>
          <p:nvPr/>
        </p:nvSpPr>
        <p:spPr>
          <a:xfrm>
            <a:off x="6355080" y="1828800"/>
            <a:ext cx="2331720" cy="822960"/>
          </a:xfrm>
          <a:prstGeom prst="rect">
            <a:avLst/>
          </a:prstGeom>
          <a:noFill/>
          <a:ln/>
        </p:spPr>
        <p:txBody>
          <a:bodyPr wrap="square" lIns="0" tIns="0" rIns="0" bIns="0" rtlCol="0" anchor="t"/>
          <a:lstStyle/>
          <a:p>
            <a:pPr marL="0" indent="0">
              <a:buNone/>
            </a:pPr>
            <a:r>
              <a:rPr lang="en-US" sz="1400" dirty="0">
                <a:solidFill>
                  <a:schemeClr val="bg1"/>
                </a:solidFill>
              </a:rPr>
              <a:t>2.72 out of 5, the lowest of 14 services. Online booking follows at 2.76.</a:t>
            </a:r>
            <a:endParaRPr lang="en-US" sz="1400" dirty="0"/>
          </a:p>
        </p:txBody>
      </p:sp>
      <p:sp>
        <p:nvSpPr>
          <p:cNvPr id="13" name="Text 10"/>
          <p:cNvSpPr txBox="1"/>
          <p:nvPr/>
        </p:nvSpPr>
        <p:spPr>
          <a:xfrm>
            <a:off x="6355080" y="2880360"/>
            <a:ext cx="2286000" cy="228600"/>
          </a:xfrm>
          <a:prstGeom prst="rect">
            <a:avLst/>
          </a:prstGeom>
          <a:noFill/>
          <a:ln/>
        </p:spPr>
        <p:txBody>
          <a:bodyPr wrap="square" lIns="0" tIns="0" rIns="0" bIns="0" rtlCol="0" anchor="t"/>
          <a:lstStyle/>
          <a:p>
            <a:pPr marL="0" indent="0">
              <a:buNone/>
            </a:pPr>
            <a:r>
              <a:rPr lang="en-US" sz="1100" b="1" kern="0" spc="300" dirty="0">
                <a:solidFill>
                  <a:srgbClr val="2FD3BF"/>
                </a:solidFill>
              </a:rPr>
              <a:t>STRONGEST</a:t>
            </a:r>
            <a:endParaRPr lang="en-US" sz="1100" dirty="0"/>
          </a:p>
        </p:txBody>
      </p:sp>
      <p:sp>
        <p:nvSpPr>
          <p:cNvPr id="14" name="Text 11"/>
          <p:cNvSpPr txBox="1"/>
          <p:nvPr/>
        </p:nvSpPr>
        <p:spPr>
          <a:xfrm>
            <a:off x="6355080" y="3154680"/>
            <a:ext cx="2286000" cy="32004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Inflight service</a:t>
            </a:r>
            <a:endParaRPr lang="en-US" sz="2000" dirty="0"/>
          </a:p>
        </p:txBody>
      </p:sp>
      <p:sp>
        <p:nvSpPr>
          <p:cNvPr id="15" name="Text 12"/>
          <p:cNvSpPr txBox="1"/>
          <p:nvPr/>
        </p:nvSpPr>
        <p:spPr>
          <a:xfrm>
            <a:off x="6355080" y="3520440"/>
            <a:ext cx="2331720" cy="822960"/>
          </a:xfrm>
          <a:prstGeom prst="rect">
            <a:avLst/>
          </a:prstGeom>
          <a:noFill/>
          <a:ln/>
        </p:spPr>
        <p:txBody>
          <a:bodyPr wrap="square" lIns="0" tIns="0" rIns="0" bIns="0" rtlCol="0" anchor="t"/>
          <a:lstStyle/>
          <a:p>
            <a:pPr marL="0" indent="0">
              <a:buNone/>
            </a:pPr>
            <a:r>
              <a:rPr lang="en-US" sz="1400" dirty="0">
                <a:solidFill>
                  <a:schemeClr val="bg1"/>
                </a:solidFill>
              </a:rPr>
              <a:t>3.65 out of 5. Baggage handling is close behind at 3.63.</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rPr>
              <a:t>Where you sit decides the mood</a:t>
            </a:r>
            <a:endParaRPr lang="en-US" sz="3200" dirty="0"/>
          </a:p>
        </p:txBody>
      </p:sp>
      <p:sp>
        <p:nvSpPr>
          <p:cNvPr id="3" name="Ticket card"/>
          <p:cNvSpPr/>
          <p:nvPr/>
        </p:nvSpPr>
        <p:spPr>
          <a:xfrm>
            <a:off x="457200" y="1143000"/>
            <a:ext cx="2560320" cy="2834640"/>
          </a:xfrm>
          <a:prstGeom prst="roundRect">
            <a:avLst>
              <a:gd name="adj" fmla="val 4286"/>
            </a:avLst>
          </a:prstGeom>
          <a:solidFill>
            <a:schemeClr val="accent2"/>
          </a:solidFill>
          <a:ln w="12700">
            <a:solidFill>
              <a:schemeClr val="accent2"/>
            </a:solidFill>
            <a:prstDash val="solid"/>
          </a:ln>
          <a:effectLst>
            <a:outerShdw blurRad="177800" dist="38100" dir="5400000" algn="bl" rotWithShape="0">
              <a:srgbClr val="000000">
                <a:alpha val="35000"/>
              </a:srgbClr>
            </a:outerShdw>
          </a:effectLst>
        </p:spPr>
        <p:txBody>
          <a:bodyPr/>
          <a:lstStyle/>
          <a:p>
            <a:endParaRPr lang="en-IN"/>
          </a:p>
        </p:txBody>
      </p:sp>
      <p:sp>
        <p:nvSpPr>
          <p:cNvPr id="4" name="Text 2"/>
          <p:cNvSpPr txBox="1"/>
          <p:nvPr/>
        </p:nvSpPr>
        <p:spPr>
          <a:xfrm>
            <a:off x="685800" y="1252728"/>
            <a:ext cx="1587398" cy="256032"/>
          </a:xfrm>
          <a:prstGeom prst="rect">
            <a:avLst/>
          </a:prstGeom>
          <a:noFill/>
          <a:ln/>
        </p:spPr>
        <p:txBody>
          <a:bodyPr wrap="square" lIns="0" tIns="0" rIns="0" bIns="0" rtlCol="0" anchor="ctr"/>
          <a:lstStyle/>
          <a:p>
            <a:pPr marL="0" indent="0">
              <a:buNone/>
            </a:pPr>
            <a:r>
              <a:rPr lang="en-US" sz="1000" b="1" kern="0" spc="300" dirty="0">
                <a:solidFill>
                  <a:schemeClr val="tx1"/>
                </a:solidFill>
              </a:rPr>
              <a:t>BUSINESS</a:t>
            </a:r>
            <a:endParaRPr lang="en-US" sz="1000" dirty="0"/>
          </a:p>
        </p:txBody>
      </p:sp>
      <p:sp>
        <p:nvSpPr>
          <p:cNvPr id="5" name="Text 3"/>
          <p:cNvSpPr txBox="1"/>
          <p:nvPr/>
        </p:nvSpPr>
        <p:spPr>
          <a:xfrm>
            <a:off x="1993392" y="1252728"/>
            <a:ext cx="795528" cy="256032"/>
          </a:xfrm>
          <a:prstGeom prst="rect">
            <a:avLst/>
          </a:prstGeom>
          <a:noFill/>
          <a:ln/>
        </p:spPr>
        <p:txBody>
          <a:bodyPr wrap="square" lIns="0" tIns="0" rIns="0" bIns="0" rtlCol="0" anchor="ctr"/>
          <a:lstStyle/>
          <a:p>
            <a:pPr marL="0" indent="0" algn="r">
              <a:buNone/>
            </a:pPr>
            <a:r>
              <a:rPr lang="en-US" sz="1000" b="1" kern="0" spc="300" dirty="0">
                <a:solidFill>
                  <a:schemeClr val="tx1"/>
                </a:solidFill>
              </a:rPr>
              <a:t>TOP</a:t>
            </a:r>
            <a:endParaRPr lang="en-US" sz="1000" dirty="0"/>
          </a:p>
        </p:txBody>
      </p:sp>
      <p:sp>
        <p:nvSpPr>
          <p:cNvPr id="6" name="Perforation"/>
          <p:cNvSpPr/>
          <p:nvPr/>
        </p:nvSpPr>
        <p:spPr>
          <a:xfrm>
            <a:off x="640080" y="1618488"/>
            <a:ext cx="2194560" cy="0"/>
          </a:xfrm>
          <a:prstGeom prst="line">
            <a:avLst/>
          </a:prstGeom>
          <a:noFill/>
          <a:ln w="15875">
            <a:solidFill>
              <a:srgbClr val="B87A00"/>
            </a:solidFill>
            <a:prstDash val="dash"/>
          </a:ln>
        </p:spPr>
        <p:txBody>
          <a:bodyPr/>
          <a:lstStyle/>
          <a:p>
            <a:endParaRPr lang="en-IN"/>
          </a:p>
        </p:txBody>
      </p:sp>
      <p:sp>
        <p:nvSpPr>
          <p:cNvPr id="7" name="Notch left"/>
          <p:cNvSpPr/>
          <p:nvPr/>
        </p:nvSpPr>
        <p:spPr>
          <a:xfrm>
            <a:off x="329184" y="1490472"/>
            <a:ext cx="256032" cy="256032"/>
          </a:xfrm>
          <a:prstGeom prst="ellipse">
            <a:avLst/>
          </a:prstGeom>
          <a:solidFill>
            <a:schemeClr val="tx1"/>
          </a:solidFill>
          <a:ln w="12700">
            <a:solidFill>
              <a:schemeClr val="tx1"/>
            </a:solidFill>
            <a:prstDash val="solid"/>
          </a:ln>
        </p:spPr>
        <p:txBody>
          <a:bodyPr/>
          <a:lstStyle/>
          <a:p>
            <a:endParaRPr lang="en-IN"/>
          </a:p>
        </p:txBody>
      </p:sp>
      <p:sp>
        <p:nvSpPr>
          <p:cNvPr id="8" name="Notch right"/>
          <p:cNvSpPr/>
          <p:nvPr/>
        </p:nvSpPr>
        <p:spPr>
          <a:xfrm>
            <a:off x="2889504" y="1490472"/>
            <a:ext cx="256032" cy="256032"/>
          </a:xfrm>
          <a:prstGeom prst="ellipse">
            <a:avLst/>
          </a:prstGeom>
          <a:solidFill>
            <a:schemeClr val="tx1"/>
          </a:solidFill>
          <a:ln w="12700">
            <a:solidFill>
              <a:schemeClr val="tx1"/>
            </a:solidFill>
            <a:prstDash val="solid"/>
          </a:ln>
        </p:spPr>
        <p:txBody>
          <a:bodyPr/>
          <a:lstStyle/>
          <a:p>
            <a:endParaRPr lang="en-IN"/>
          </a:p>
        </p:txBody>
      </p:sp>
      <p:sp>
        <p:nvSpPr>
          <p:cNvPr id="9" name="Text 7"/>
          <p:cNvSpPr txBox="1"/>
          <p:nvPr/>
        </p:nvSpPr>
        <p:spPr>
          <a:xfrm>
            <a:off x="685800" y="1819656"/>
            <a:ext cx="2194560" cy="822960"/>
          </a:xfrm>
          <a:prstGeom prst="rect">
            <a:avLst/>
          </a:prstGeom>
          <a:noFill/>
          <a:ln/>
        </p:spPr>
        <p:txBody>
          <a:bodyPr wrap="square" lIns="0" tIns="0" rIns="0" bIns="0" rtlCol="0" anchor="t"/>
          <a:lstStyle/>
          <a:p>
            <a:pPr marL="0" indent="0">
              <a:buNone/>
            </a:pPr>
            <a:r>
              <a:rPr lang="en-US" sz="4800" b="1" dirty="0">
                <a:solidFill>
                  <a:schemeClr val="tx1"/>
                </a:solidFill>
                <a:latin typeface="Cambria" pitchFamily="34" charset="0"/>
                <a:ea typeface="Cambria" pitchFamily="34" charset="-122"/>
                <a:cs typeface="Cambria" pitchFamily="34" charset="-120"/>
              </a:rPr>
              <a:t>69.5%</a:t>
            </a:r>
            <a:endParaRPr lang="en-US" sz="4800" dirty="0"/>
          </a:p>
        </p:txBody>
      </p:sp>
      <p:sp>
        <p:nvSpPr>
          <p:cNvPr id="10" name="Text 8"/>
          <p:cNvSpPr txBox="1"/>
          <p:nvPr/>
        </p:nvSpPr>
        <p:spPr>
          <a:xfrm>
            <a:off x="685800" y="2642616"/>
            <a:ext cx="2194560" cy="274320"/>
          </a:xfrm>
          <a:prstGeom prst="rect">
            <a:avLst/>
          </a:prstGeom>
          <a:noFill/>
          <a:ln/>
        </p:spPr>
        <p:txBody>
          <a:bodyPr wrap="square" lIns="0" tIns="0" rIns="0" bIns="0" rtlCol="0" anchor="t"/>
          <a:lstStyle/>
          <a:p>
            <a:pPr marL="0" indent="0">
              <a:buNone/>
            </a:pPr>
            <a:r>
              <a:rPr lang="en-US" sz="1400" dirty="0">
                <a:solidFill>
                  <a:schemeClr val="tx1"/>
                </a:solidFill>
              </a:rPr>
              <a:t>of passengers satisfied</a:t>
            </a:r>
            <a:endParaRPr lang="en-US" sz="1400" dirty="0"/>
          </a:p>
        </p:txBody>
      </p:sp>
      <p:sp>
        <p:nvSpPr>
          <p:cNvPr id="11" name="Text 9"/>
          <p:cNvSpPr txBox="1"/>
          <p:nvPr/>
        </p:nvSpPr>
        <p:spPr>
          <a:xfrm>
            <a:off x="685800" y="3099816"/>
            <a:ext cx="2194560" cy="274320"/>
          </a:xfrm>
          <a:prstGeom prst="rect">
            <a:avLst/>
          </a:prstGeom>
          <a:noFill/>
          <a:ln/>
        </p:spPr>
        <p:txBody>
          <a:bodyPr wrap="square" lIns="0" tIns="0" rIns="0" bIns="0" rtlCol="0" anchor="t"/>
          <a:lstStyle/>
          <a:p>
            <a:pPr marL="0" indent="0">
              <a:buNone/>
            </a:pPr>
            <a:r>
              <a:rPr lang="en-US" sz="1200" b="1" dirty="0">
                <a:solidFill>
                  <a:schemeClr val="tx1"/>
                </a:solidFill>
              </a:rPr>
              <a:t>8,660 of 12,457 satisfied</a:t>
            </a:r>
            <a:endParaRPr lang="en-US" sz="1200" dirty="0"/>
          </a:p>
        </p:txBody>
      </p:sp>
      <p:sp>
        <p:nvSpPr>
          <p:cNvPr id="12" name="Text 10"/>
          <p:cNvSpPr txBox="1"/>
          <p:nvPr/>
        </p:nvSpPr>
        <p:spPr>
          <a:xfrm>
            <a:off x="685800" y="3374136"/>
            <a:ext cx="2194560" cy="274320"/>
          </a:xfrm>
          <a:prstGeom prst="rect">
            <a:avLst/>
          </a:prstGeom>
          <a:noFill/>
          <a:ln/>
        </p:spPr>
        <p:txBody>
          <a:bodyPr wrap="square" lIns="0" tIns="0" rIns="0" bIns="0" rtlCol="0" anchor="t"/>
          <a:lstStyle/>
          <a:p>
            <a:pPr marL="0" indent="0">
              <a:buNone/>
            </a:pPr>
            <a:r>
              <a:rPr lang="en-US" sz="1200" dirty="0">
                <a:solidFill>
                  <a:schemeClr val="tx1"/>
                </a:solidFill>
              </a:rPr>
              <a:t>Avg service rating 3.44</a:t>
            </a:r>
            <a:endParaRPr lang="en-US" sz="1200" dirty="0"/>
          </a:p>
        </p:txBody>
      </p:sp>
      <p:sp>
        <p:nvSpPr>
          <p:cNvPr id="13" name="Ticket card"/>
          <p:cNvSpPr/>
          <p:nvPr/>
        </p:nvSpPr>
        <p:spPr>
          <a:xfrm>
            <a:off x="3291840" y="1143000"/>
            <a:ext cx="2560320" cy="2834640"/>
          </a:xfrm>
          <a:prstGeom prst="roundRect">
            <a:avLst>
              <a:gd name="adj" fmla="val 4286"/>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14" name="Text 12"/>
          <p:cNvSpPr txBox="1"/>
          <p:nvPr/>
        </p:nvSpPr>
        <p:spPr>
          <a:xfrm>
            <a:off x="3520440" y="1252728"/>
            <a:ext cx="210312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ECO PLUS</a:t>
            </a:r>
            <a:endParaRPr lang="en-US" sz="1000" dirty="0"/>
          </a:p>
        </p:txBody>
      </p:sp>
      <p:sp>
        <p:nvSpPr>
          <p:cNvPr id="15" name="Perforation"/>
          <p:cNvSpPr/>
          <p:nvPr/>
        </p:nvSpPr>
        <p:spPr>
          <a:xfrm>
            <a:off x="3474720" y="1618488"/>
            <a:ext cx="2194560" cy="0"/>
          </a:xfrm>
          <a:prstGeom prst="line">
            <a:avLst/>
          </a:prstGeom>
          <a:noFill/>
          <a:ln w="15875">
            <a:solidFill>
              <a:srgbClr val="C9CEE3"/>
            </a:solidFill>
            <a:prstDash val="dash"/>
          </a:ln>
        </p:spPr>
        <p:txBody>
          <a:bodyPr/>
          <a:lstStyle/>
          <a:p>
            <a:endParaRPr lang="en-IN"/>
          </a:p>
        </p:txBody>
      </p:sp>
      <p:sp>
        <p:nvSpPr>
          <p:cNvPr id="16" name="Notch left"/>
          <p:cNvSpPr/>
          <p:nvPr/>
        </p:nvSpPr>
        <p:spPr>
          <a:xfrm>
            <a:off x="3163824" y="1490472"/>
            <a:ext cx="256032" cy="256032"/>
          </a:xfrm>
          <a:prstGeom prst="ellipse">
            <a:avLst/>
          </a:prstGeom>
          <a:solidFill>
            <a:schemeClr val="tx1"/>
          </a:solidFill>
          <a:ln w="12700">
            <a:solidFill>
              <a:schemeClr val="tx1"/>
            </a:solidFill>
            <a:prstDash val="solid"/>
          </a:ln>
        </p:spPr>
        <p:txBody>
          <a:bodyPr/>
          <a:lstStyle/>
          <a:p>
            <a:endParaRPr lang="en-IN"/>
          </a:p>
        </p:txBody>
      </p:sp>
      <p:sp>
        <p:nvSpPr>
          <p:cNvPr id="17" name="Notch right"/>
          <p:cNvSpPr/>
          <p:nvPr/>
        </p:nvSpPr>
        <p:spPr>
          <a:xfrm>
            <a:off x="5724144" y="1490472"/>
            <a:ext cx="256032" cy="256032"/>
          </a:xfrm>
          <a:prstGeom prst="ellipse">
            <a:avLst/>
          </a:prstGeom>
          <a:solidFill>
            <a:schemeClr val="tx1"/>
          </a:solidFill>
          <a:ln w="12700">
            <a:solidFill>
              <a:schemeClr val="tx1"/>
            </a:solidFill>
            <a:prstDash val="solid"/>
          </a:ln>
        </p:spPr>
        <p:txBody>
          <a:bodyPr/>
          <a:lstStyle/>
          <a:p>
            <a:endParaRPr lang="en-IN"/>
          </a:p>
        </p:txBody>
      </p:sp>
      <p:sp>
        <p:nvSpPr>
          <p:cNvPr id="18" name="Text 16"/>
          <p:cNvSpPr txBox="1"/>
          <p:nvPr/>
        </p:nvSpPr>
        <p:spPr>
          <a:xfrm>
            <a:off x="3520440" y="1819656"/>
            <a:ext cx="2194560" cy="822960"/>
          </a:xfrm>
          <a:prstGeom prst="rect">
            <a:avLst/>
          </a:prstGeom>
          <a:noFill/>
          <a:ln/>
        </p:spPr>
        <p:txBody>
          <a:bodyPr wrap="square" lIns="0" tIns="0" rIns="0" bIns="0" rtlCol="0" anchor="t"/>
          <a:lstStyle/>
          <a:p>
            <a:pPr marL="0" indent="0">
              <a:buNone/>
            </a:pPr>
            <a:r>
              <a:rPr lang="en-US" sz="4800" b="1" dirty="0">
                <a:solidFill>
                  <a:schemeClr val="tx1"/>
                </a:solidFill>
                <a:latin typeface="Cambria" pitchFamily="34" charset="0"/>
                <a:ea typeface="Cambria" pitchFamily="34" charset="-122"/>
                <a:cs typeface="Cambria" pitchFamily="34" charset="-120"/>
              </a:rPr>
              <a:t>24.8%</a:t>
            </a:r>
            <a:endParaRPr lang="en-US" sz="4800" dirty="0"/>
          </a:p>
        </p:txBody>
      </p:sp>
      <p:sp>
        <p:nvSpPr>
          <p:cNvPr id="19" name="Text 17"/>
          <p:cNvSpPr txBox="1"/>
          <p:nvPr/>
        </p:nvSpPr>
        <p:spPr>
          <a:xfrm>
            <a:off x="3520440" y="2642616"/>
            <a:ext cx="2194560" cy="274320"/>
          </a:xfrm>
          <a:prstGeom prst="rect">
            <a:avLst/>
          </a:prstGeom>
          <a:noFill/>
          <a:ln/>
        </p:spPr>
        <p:txBody>
          <a:bodyPr wrap="square" lIns="0" tIns="0" rIns="0" bIns="0" rtlCol="0" anchor="t"/>
          <a:lstStyle/>
          <a:p>
            <a:pPr marL="0" indent="0">
              <a:buNone/>
            </a:pPr>
            <a:r>
              <a:rPr lang="en-US" sz="1400" dirty="0">
                <a:solidFill>
                  <a:schemeClr val="accent5"/>
                </a:solidFill>
              </a:rPr>
              <a:t>of passengers satisfied</a:t>
            </a:r>
            <a:endParaRPr lang="en-US" sz="1400" dirty="0"/>
          </a:p>
        </p:txBody>
      </p:sp>
      <p:sp>
        <p:nvSpPr>
          <p:cNvPr id="20" name="Text 18"/>
          <p:cNvSpPr txBox="1"/>
          <p:nvPr/>
        </p:nvSpPr>
        <p:spPr>
          <a:xfrm>
            <a:off x="3520440" y="3099816"/>
            <a:ext cx="2194560" cy="274320"/>
          </a:xfrm>
          <a:prstGeom prst="rect">
            <a:avLst/>
          </a:prstGeom>
          <a:noFill/>
          <a:ln/>
        </p:spPr>
        <p:txBody>
          <a:bodyPr wrap="square" lIns="0" tIns="0" rIns="0" bIns="0" rtlCol="0" anchor="t"/>
          <a:lstStyle/>
          <a:p>
            <a:pPr marL="0" indent="0">
              <a:buNone/>
            </a:pPr>
            <a:r>
              <a:rPr lang="en-US" sz="1200" b="1" dirty="0">
                <a:solidFill>
                  <a:schemeClr val="tx1"/>
                </a:solidFill>
              </a:rPr>
              <a:t>474 of 1,912 satisfied</a:t>
            </a:r>
            <a:endParaRPr lang="en-US" sz="1200" dirty="0"/>
          </a:p>
        </p:txBody>
      </p:sp>
      <p:sp>
        <p:nvSpPr>
          <p:cNvPr id="21" name="Text 19"/>
          <p:cNvSpPr txBox="1"/>
          <p:nvPr/>
        </p:nvSpPr>
        <p:spPr>
          <a:xfrm>
            <a:off x="3520440" y="3374136"/>
            <a:ext cx="2194560" cy="274320"/>
          </a:xfrm>
          <a:prstGeom prst="rect">
            <a:avLst/>
          </a:prstGeom>
          <a:noFill/>
          <a:ln/>
        </p:spPr>
        <p:txBody>
          <a:bodyPr wrap="square" lIns="0" tIns="0" rIns="0" bIns="0" rtlCol="0" anchor="t"/>
          <a:lstStyle/>
          <a:p>
            <a:pPr marL="0" indent="0">
              <a:buNone/>
            </a:pPr>
            <a:r>
              <a:rPr lang="en-US" sz="1200" dirty="0">
                <a:solidFill>
                  <a:schemeClr val="accent5"/>
                </a:solidFill>
              </a:rPr>
              <a:t>Avg service rating 3.03</a:t>
            </a:r>
            <a:endParaRPr lang="en-US" sz="1200" dirty="0"/>
          </a:p>
        </p:txBody>
      </p:sp>
      <p:sp>
        <p:nvSpPr>
          <p:cNvPr id="22" name="Ticket card"/>
          <p:cNvSpPr/>
          <p:nvPr/>
        </p:nvSpPr>
        <p:spPr>
          <a:xfrm>
            <a:off x="6126480" y="1143000"/>
            <a:ext cx="2560320" cy="2834640"/>
          </a:xfrm>
          <a:prstGeom prst="roundRect">
            <a:avLst>
              <a:gd name="adj" fmla="val 4286"/>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23" name="Text 21"/>
          <p:cNvSpPr txBox="1"/>
          <p:nvPr/>
        </p:nvSpPr>
        <p:spPr>
          <a:xfrm>
            <a:off x="6355080" y="1252728"/>
            <a:ext cx="210312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ECONOMY</a:t>
            </a:r>
            <a:endParaRPr lang="en-US" sz="1000" dirty="0"/>
          </a:p>
        </p:txBody>
      </p:sp>
      <p:sp>
        <p:nvSpPr>
          <p:cNvPr id="24" name="Perforation"/>
          <p:cNvSpPr/>
          <p:nvPr/>
        </p:nvSpPr>
        <p:spPr>
          <a:xfrm>
            <a:off x="6309360" y="1618488"/>
            <a:ext cx="2194560" cy="0"/>
          </a:xfrm>
          <a:prstGeom prst="line">
            <a:avLst/>
          </a:prstGeom>
          <a:noFill/>
          <a:ln w="15875">
            <a:solidFill>
              <a:srgbClr val="C9CEE3"/>
            </a:solidFill>
            <a:prstDash val="dash"/>
          </a:ln>
        </p:spPr>
        <p:txBody>
          <a:bodyPr/>
          <a:lstStyle/>
          <a:p>
            <a:endParaRPr lang="en-IN"/>
          </a:p>
        </p:txBody>
      </p:sp>
      <p:sp>
        <p:nvSpPr>
          <p:cNvPr id="25" name="Notch left"/>
          <p:cNvSpPr/>
          <p:nvPr/>
        </p:nvSpPr>
        <p:spPr>
          <a:xfrm>
            <a:off x="5998464" y="1490472"/>
            <a:ext cx="256032" cy="256032"/>
          </a:xfrm>
          <a:prstGeom prst="ellipse">
            <a:avLst/>
          </a:prstGeom>
          <a:solidFill>
            <a:schemeClr val="tx1"/>
          </a:solidFill>
          <a:ln w="12700">
            <a:solidFill>
              <a:schemeClr val="tx1"/>
            </a:solidFill>
            <a:prstDash val="solid"/>
          </a:ln>
        </p:spPr>
        <p:txBody>
          <a:bodyPr/>
          <a:lstStyle/>
          <a:p>
            <a:endParaRPr lang="en-IN"/>
          </a:p>
        </p:txBody>
      </p:sp>
      <p:sp>
        <p:nvSpPr>
          <p:cNvPr id="26" name="Notch right"/>
          <p:cNvSpPr/>
          <p:nvPr/>
        </p:nvSpPr>
        <p:spPr>
          <a:xfrm>
            <a:off x="8558784" y="1490472"/>
            <a:ext cx="256032" cy="256032"/>
          </a:xfrm>
          <a:prstGeom prst="ellipse">
            <a:avLst/>
          </a:prstGeom>
          <a:solidFill>
            <a:schemeClr val="tx1"/>
          </a:solidFill>
          <a:ln w="12700">
            <a:solidFill>
              <a:schemeClr val="tx1"/>
            </a:solidFill>
            <a:prstDash val="solid"/>
          </a:ln>
        </p:spPr>
        <p:txBody>
          <a:bodyPr/>
          <a:lstStyle/>
          <a:p>
            <a:endParaRPr lang="en-IN"/>
          </a:p>
        </p:txBody>
      </p:sp>
      <p:sp>
        <p:nvSpPr>
          <p:cNvPr id="27" name="Text 25"/>
          <p:cNvSpPr txBox="1"/>
          <p:nvPr/>
        </p:nvSpPr>
        <p:spPr>
          <a:xfrm>
            <a:off x="6355080" y="1819656"/>
            <a:ext cx="2194560" cy="822960"/>
          </a:xfrm>
          <a:prstGeom prst="rect">
            <a:avLst/>
          </a:prstGeom>
          <a:noFill/>
          <a:ln/>
        </p:spPr>
        <p:txBody>
          <a:bodyPr wrap="square" lIns="0" tIns="0" rIns="0" bIns="0" rtlCol="0" anchor="t"/>
          <a:lstStyle/>
          <a:p>
            <a:pPr marL="0" indent="0">
              <a:buNone/>
            </a:pPr>
            <a:r>
              <a:rPr lang="en-US" sz="4800" b="1" dirty="0">
                <a:solidFill>
                  <a:schemeClr val="accent1"/>
                </a:solidFill>
                <a:latin typeface="Cambria" pitchFamily="34" charset="0"/>
                <a:ea typeface="Cambria" pitchFamily="34" charset="-122"/>
                <a:cs typeface="Cambria" pitchFamily="34" charset="-120"/>
              </a:rPr>
              <a:t>19.4%</a:t>
            </a:r>
            <a:endParaRPr lang="en-US" sz="4800" dirty="0"/>
          </a:p>
        </p:txBody>
      </p:sp>
      <p:sp>
        <p:nvSpPr>
          <p:cNvPr id="28" name="Text 26"/>
          <p:cNvSpPr txBox="1"/>
          <p:nvPr/>
        </p:nvSpPr>
        <p:spPr>
          <a:xfrm>
            <a:off x="6355080" y="2642616"/>
            <a:ext cx="2194560" cy="274320"/>
          </a:xfrm>
          <a:prstGeom prst="rect">
            <a:avLst/>
          </a:prstGeom>
          <a:noFill/>
          <a:ln/>
        </p:spPr>
        <p:txBody>
          <a:bodyPr wrap="square" lIns="0" tIns="0" rIns="0" bIns="0" rtlCol="0" anchor="t"/>
          <a:lstStyle/>
          <a:p>
            <a:pPr marL="0" indent="0">
              <a:buNone/>
            </a:pPr>
            <a:r>
              <a:rPr lang="en-US" sz="1400" dirty="0">
                <a:solidFill>
                  <a:schemeClr val="accent5"/>
                </a:solidFill>
              </a:rPr>
              <a:t>of passengers satisfied</a:t>
            </a:r>
            <a:endParaRPr lang="en-US" sz="1400" dirty="0"/>
          </a:p>
        </p:txBody>
      </p:sp>
      <p:sp>
        <p:nvSpPr>
          <p:cNvPr id="29" name="Text 27"/>
          <p:cNvSpPr txBox="1"/>
          <p:nvPr/>
        </p:nvSpPr>
        <p:spPr>
          <a:xfrm>
            <a:off x="6355080" y="3099816"/>
            <a:ext cx="2194560" cy="274320"/>
          </a:xfrm>
          <a:prstGeom prst="rect">
            <a:avLst/>
          </a:prstGeom>
          <a:noFill/>
          <a:ln/>
        </p:spPr>
        <p:txBody>
          <a:bodyPr wrap="square" lIns="0" tIns="0" rIns="0" bIns="0" rtlCol="0" anchor="t"/>
          <a:lstStyle/>
          <a:p>
            <a:pPr marL="0" indent="0">
              <a:buNone/>
            </a:pPr>
            <a:r>
              <a:rPr lang="en-US" sz="1200" b="1" dirty="0">
                <a:solidFill>
                  <a:schemeClr val="tx1"/>
                </a:solidFill>
              </a:rPr>
              <a:t>2,231 of 11,524 satisfied</a:t>
            </a:r>
            <a:endParaRPr lang="en-US" sz="1200" dirty="0"/>
          </a:p>
        </p:txBody>
      </p:sp>
      <p:sp>
        <p:nvSpPr>
          <p:cNvPr id="30" name="Text 28"/>
          <p:cNvSpPr txBox="1"/>
          <p:nvPr/>
        </p:nvSpPr>
        <p:spPr>
          <a:xfrm>
            <a:off x="6355080" y="3374136"/>
            <a:ext cx="2194560" cy="274320"/>
          </a:xfrm>
          <a:prstGeom prst="rect">
            <a:avLst/>
          </a:prstGeom>
          <a:noFill/>
          <a:ln/>
        </p:spPr>
        <p:txBody>
          <a:bodyPr wrap="square" lIns="0" tIns="0" rIns="0" bIns="0" rtlCol="0" anchor="t"/>
          <a:lstStyle/>
          <a:p>
            <a:pPr marL="0" indent="0">
              <a:buNone/>
            </a:pPr>
            <a:r>
              <a:rPr lang="en-US" sz="1200" dirty="0">
                <a:solidFill>
                  <a:schemeClr val="accent5"/>
                </a:solidFill>
              </a:rPr>
              <a:t>Avg service rating 3.06</a:t>
            </a:r>
            <a:endParaRPr lang="en-US" sz="1200" dirty="0"/>
          </a:p>
        </p:txBody>
      </p:sp>
      <p:sp>
        <p:nvSpPr>
          <p:cNvPr id="31" name="Text 29"/>
          <p:cNvSpPr txBox="1"/>
          <p:nvPr/>
        </p:nvSpPr>
        <p:spPr>
          <a:xfrm>
            <a:off x="457200" y="4206240"/>
            <a:ext cx="8229600" cy="365760"/>
          </a:xfrm>
          <a:prstGeom prst="rect">
            <a:avLst/>
          </a:prstGeom>
          <a:noFill/>
          <a:ln/>
        </p:spPr>
        <p:txBody>
          <a:bodyPr wrap="square" lIns="0" tIns="0" rIns="0" bIns="0" rtlCol="0" anchor="t"/>
          <a:lstStyle/>
          <a:p>
            <a:pPr marL="0" indent="0">
              <a:buNone/>
            </a:pPr>
            <a:r>
              <a:rPr lang="en-US" sz="1800" b="1" dirty="0">
                <a:solidFill>
                  <a:schemeClr val="accent2"/>
                </a:solidFill>
                <a:latin typeface="Cambria" pitchFamily="34" charset="0"/>
                <a:ea typeface="Cambria" pitchFamily="34" charset="-122"/>
                <a:cs typeface="Cambria" pitchFamily="34" charset="-120"/>
              </a:rPr>
              <a:t>Business passengers are 3.6x more likely to be satisfied than those in Economy.</a:t>
            </a:r>
            <a:endParaRPr lang="en-US" sz="1800" dirty="0"/>
          </a:p>
        </p:txBody>
      </p:sp>
      <p:sp>
        <p:nvSpPr>
          <p:cNvPr id="32"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rPr>
              <a:t>Loyalty and purpose of travel matter</a:t>
            </a:r>
            <a:endParaRPr lang="en-US" sz="3200" dirty="0"/>
          </a:p>
        </p:txBody>
      </p:sp>
      <p:sp>
        <p:nvSpPr>
          <p:cNvPr id="3" name="Ticket card"/>
          <p:cNvSpPr/>
          <p:nvPr/>
        </p:nvSpPr>
        <p:spPr>
          <a:xfrm>
            <a:off x="457200" y="1188720"/>
            <a:ext cx="5303520" cy="3383280"/>
          </a:xfrm>
          <a:prstGeom prst="roundRect">
            <a:avLst>
              <a:gd name="adj" fmla="val 3243"/>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4" name="Text 2"/>
          <p:cNvSpPr txBox="1"/>
          <p:nvPr/>
        </p:nvSpPr>
        <p:spPr>
          <a:xfrm>
            <a:off x="685800" y="1298448"/>
            <a:ext cx="3288182"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 SATISFIED BY SEGMENT</a:t>
            </a:r>
            <a:endParaRPr lang="en-US" sz="1000" dirty="0"/>
          </a:p>
        </p:txBody>
      </p:sp>
      <p:sp>
        <p:nvSpPr>
          <p:cNvPr id="5" name="Text 3"/>
          <p:cNvSpPr txBox="1"/>
          <p:nvPr/>
        </p:nvSpPr>
        <p:spPr>
          <a:xfrm>
            <a:off x="3639312" y="1298448"/>
            <a:ext cx="1892808" cy="256032"/>
          </a:xfrm>
          <a:prstGeom prst="rect">
            <a:avLst/>
          </a:prstGeom>
          <a:noFill/>
          <a:ln/>
        </p:spPr>
        <p:txBody>
          <a:bodyPr wrap="square" lIns="0" tIns="0" rIns="0" bIns="0" rtlCol="0" anchor="ctr"/>
          <a:lstStyle/>
          <a:p>
            <a:pPr marL="0" indent="0" algn="r">
              <a:buNone/>
            </a:pPr>
            <a:r>
              <a:rPr lang="en-US" sz="1000" b="1" kern="0" spc="300" dirty="0">
                <a:solidFill>
                  <a:schemeClr val="accent5"/>
                </a:solidFill>
              </a:rPr>
              <a:t>4 SEGMENTS</a:t>
            </a:r>
            <a:endParaRPr lang="en-US" sz="1000" dirty="0"/>
          </a:p>
        </p:txBody>
      </p:sp>
      <p:sp>
        <p:nvSpPr>
          <p:cNvPr id="6" name="Perforation"/>
          <p:cNvSpPr/>
          <p:nvPr/>
        </p:nvSpPr>
        <p:spPr>
          <a:xfrm>
            <a:off x="640080" y="1664208"/>
            <a:ext cx="4937760" cy="0"/>
          </a:xfrm>
          <a:prstGeom prst="line">
            <a:avLst/>
          </a:prstGeom>
          <a:noFill/>
          <a:ln w="15875">
            <a:solidFill>
              <a:srgbClr val="C9CEE3"/>
            </a:solidFill>
            <a:prstDash val="dash"/>
          </a:ln>
        </p:spPr>
        <p:txBody>
          <a:bodyPr/>
          <a:lstStyle/>
          <a:p>
            <a:endParaRPr lang="en-IN"/>
          </a:p>
        </p:txBody>
      </p:sp>
      <p:sp>
        <p:nvSpPr>
          <p:cNvPr id="7" name="Notch left"/>
          <p:cNvSpPr/>
          <p:nvPr/>
        </p:nvSpPr>
        <p:spPr>
          <a:xfrm>
            <a:off x="329184" y="1536192"/>
            <a:ext cx="256032" cy="256032"/>
          </a:xfrm>
          <a:prstGeom prst="ellipse">
            <a:avLst/>
          </a:prstGeom>
          <a:solidFill>
            <a:schemeClr val="tx1"/>
          </a:solidFill>
          <a:ln w="12700">
            <a:solidFill>
              <a:schemeClr val="tx1"/>
            </a:solidFill>
            <a:prstDash val="solid"/>
          </a:ln>
        </p:spPr>
        <p:txBody>
          <a:bodyPr/>
          <a:lstStyle/>
          <a:p>
            <a:endParaRPr lang="en-IN"/>
          </a:p>
        </p:txBody>
      </p:sp>
      <p:sp>
        <p:nvSpPr>
          <p:cNvPr id="8" name="Notch right"/>
          <p:cNvSpPr/>
          <p:nvPr/>
        </p:nvSpPr>
        <p:spPr>
          <a:xfrm>
            <a:off x="5632704" y="1536192"/>
            <a:ext cx="256032" cy="256032"/>
          </a:xfrm>
          <a:prstGeom prst="ellipse">
            <a:avLst/>
          </a:prstGeom>
          <a:solidFill>
            <a:schemeClr val="tx1"/>
          </a:solidFill>
          <a:ln w="12700">
            <a:solidFill>
              <a:schemeClr val="tx1"/>
            </a:solidFill>
            <a:prstDash val="solid"/>
          </a:ln>
        </p:spPr>
        <p:txBody>
          <a:bodyPr/>
          <a:lstStyle/>
          <a:p>
            <a:endParaRPr lang="en-IN"/>
          </a:p>
        </p:txBody>
      </p:sp>
      <p:graphicFrame>
        <p:nvGraphicFramePr>
          <p:cNvPr id="9" name="Chart 0"/>
          <p:cNvGraphicFramePr/>
          <p:nvPr/>
        </p:nvGraphicFramePr>
        <p:xfrm>
          <a:off x="548640" y="1773936"/>
          <a:ext cx="512064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6126480" y="1188720"/>
            <a:ext cx="2560320" cy="502920"/>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1.9x</a:t>
            </a:r>
            <a:endParaRPr lang="en-US" sz="3400" dirty="0"/>
          </a:p>
        </p:txBody>
      </p:sp>
      <p:sp>
        <p:nvSpPr>
          <p:cNvPr id="11" name="Text 8"/>
          <p:cNvSpPr txBox="1"/>
          <p:nvPr/>
        </p:nvSpPr>
        <p:spPr>
          <a:xfrm>
            <a:off x="6126480" y="1737360"/>
            <a:ext cx="2560320" cy="502920"/>
          </a:xfrm>
          <a:prstGeom prst="rect">
            <a:avLst/>
          </a:prstGeom>
          <a:noFill/>
          <a:ln/>
        </p:spPr>
        <p:txBody>
          <a:bodyPr wrap="square" lIns="0" tIns="0" rIns="0" bIns="0" rtlCol="0" anchor="t"/>
          <a:lstStyle/>
          <a:p>
            <a:pPr marL="0" indent="0">
              <a:buNone/>
            </a:pPr>
            <a:r>
              <a:rPr lang="en-US" sz="1400" dirty="0">
                <a:solidFill>
                  <a:schemeClr val="bg1"/>
                </a:solidFill>
              </a:rPr>
              <a:t>more likely satisfied: loyal vs disloyal</a:t>
            </a:r>
            <a:endParaRPr lang="en-US" sz="1400" dirty="0"/>
          </a:p>
        </p:txBody>
      </p:sp>
      <p:sp>
        <p:nvSpPr>
          <p:cNvPr id="12" name="Text 9"/>
          <p:cNvSpPr txBox="1"/>
          <p:nvPr/>
        </p:nvSpPr>
        <p:spPr>
          <a:xfrm>
            <a:off x="6126480" y="2331720"/>
            <a:ext cx="2560320" cy="502920"/>
          </a:xfrm>
          <a:prstGeom prst="rect">
            <a:avLst/>
          </a:prstGeom>
          <a:noFill/>
          <a:ln/>
        </p:spPr>
        <p:txBody>
          <a:bodyPr wrap="square" lIns="0" tIns="0" rIns="0" bIns="0" rtlCol="0" anchor="t"/>
          <a:lstStyle/>
          <a:p>
            <a:pPr marL="0" indent="0">
              <a:buNone/>
            </a:pPr>
            <a:r>
              <a:rPr lang="en-US" sz="3400" b="1" dirty="0">
                <a:solidFill>
                  <a:srgbClr val="2FD3BF"/>
                </a:solidFill>
                <a:latin typeface="Cambria" pitchFamily="34" charset="0"/>
                <a:ea typeface="Cambria" pitchFamily="34" charset="-122"/>
                <a:cs typeface="Cambria" pitchFamily="34" charset="-120"/>
              </a:rPr>
              <a:t>5.9x</a:t>
            </a:r>
            <a:endParaRPr lang="en-US" sz="3400" dirty="0"/>
          </a:p>
        </p:txBody>
      </p:sp>
      <p:sp>
        <p:nvSpPr>
          <p:cNvPr id="13" name="Text 10"/>
          <p:cNvSpPr txBox="1"/>
          <p:nvPr/>
        </p:nvSpPr>
        <p:spPr>
          <a:xfrm>
            <a:off x="6126480" y="2880360"/>
            <a:ext cx="2560320" cy="502920"/>
          </a:xfrm>
          <a:prstGeom prst="rect">
            <a:avLst/>
          </a:prstGeom>
          <a:noFill/>
          <a:ln/>
        </p:spPr>
        <p:txBody>
          <a:bodyPr wrap="square" lIns="0" tIns="0" rIns="0" bIns="0" rtlCol="0" anchor="t"/>
          <a:lstStyle/>
          <a:p>
            <a:pPr marL="0" indent="0">
              <a:buNone/>
            </a:pPr>
            <a:r>
              <a:rPr lang="en-US" sz="1400" dirty="0">
                <a:solidFill>
                  <a:schemeClr val="bg1"/>
                </a:solidFill>
              </a:rPr>
              <a:t>more likely satisfied: business vs personal trips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rPr>
              <a:t>What really moves satisfaction</a:t>
            </a:r>
            <a:endParaRPr lang="en-US" sz="3200" dirty="0"/>
          </a:p>
        </p:txBody>
      </p:sp>
      <p:sp>
        <p:nvSpPr>
          <p:cNvPr id="3" name="Ticket card"/>
          <p:cNvSpPr/>
          <p:nvPr/>
        </p:nvSpPr>
        <p:spPr>
          <a:xfrm>
            <a:off x="457200" y="1188720"/>
            <a:ext cx="3108960" cy="3383280"/>
          </a:xfrm>
          <a:prstGeom prst="roundRect">
            <a:avLst>
              <a:gd name="adj" fmla="val 3529"/>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4" name="Text 2"/>
          <p:cNvSpPr txBox="1"/>
          <p:nvPr/>
        </p:nvSpPr>
        <p:spPr>
          <a:xfrm>
            <a:off x="685800" y="1298448"/>
            <a:ext cx="1927555"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SCORE GAP</a:t>
            </a:r>
            <a:endParaRPr lang="en-US" sz="1000" dirty="0"/>
          </a:p>
        </p:txBody>
      </p:sp>
      <p:sp>
        <p:nvSpPr>
          <p:cNvPr id="5" name="Text 3"/>
          <p:cNvSpPr txBox="1"/>
          <p:nvPr/>
        </p:nvSpPr>
        <p:spPr>
          <a:xfrm>
            <a:off x="2322576" y="1298448"/>
            <a:ext cx="1014984" cy="256032"/>
          </a:xfrm>
          <a:prstGeom prst="rect">
            <a:avLst/>
          </a:prstGeom>
          <a:noFill/>
          <a:ln/>
        </p:spPr>
        <p:txBody>
          <a:bodyPr wrap="square" lIns="0" tIns="0" rIns="0" bIns="0" rtlCol="0" anchor="ctr"/>
          <a:lstStyle/>
          <a:p>
            <a:pPr marL="0" indent="0" algn="r">
              <a:buNone/>
            </a:pPr>
            <a:r>
              <a:rPr lang="en-US" sz="1000" b="1" kern="0" spc="300" dirty="0">
                <a:solidFill>
                  <a:schemeClr val="accent5"/>
                </a:solidFill>
              </a:rPr>
              <a:t>AVG OF 14</a:t>
            </a:r>
            <a:endParaRPr lang="en-US" sz="1000" dirty="0"/>
          </a:p>
        </p:txBody>
      </p:sp>
      <p:sp>
        <p:nvSpPr>
          <p:cNvPr id="6" name="Perforation"/>
          <p:cNvSpPr/>
          <p:nvPr/>
        </p:nvSpPr>
        <p:spPr>
          <a:xfrm>
            <a:off x="640080" y="1664208"/>
            <a:ext cx="2743200" cy="0"/>
          </a:xfrm>
          <a:prstGeom prst="line">
            <a:avLst/>
          </a:prstGeom>
          <a:noFill/>
          <a:ln w="15875">
            <a:solidFill>
              <a:srgbClr val="C9CEE3"/>
            </a:solidFill>
            <a:prstDash val="dash"/>
          </a:ln>
        </p:spPr>
        <p:txBody>
          <a:bodyPr/>
          <a:lstStyle/>
          <a:p>
            <a:endParaRPr lang="en-IN"/>
          </a:p>
        </p:txBody>
      </p:sp>
      <p:sp>
        <p:nvSpPr>
          <p:cNvPr id="7" name="Notch left"/>
          <p:cNvSpPr/>
          <p:nvPr/>
        </p:nvSpPr>
        <p:spPr>
          <a:xfrm>
            <a:off x="329184" y="1536192"/>
            <a:ext cx="256032" cy="256032"/>
          </a:xfrm>
          <a:prstGeom prst="ellipse">
            <a:avLst/>
          </a:prstGeom>
          <a:solidFill>
            <a:schemeClr val="tx1"/>
          </a:solidFill>
          <a:ln w="12700">
            <a:solidFill>
              <a:schemeClr val="tx1"/>
            </a:solidFill>
            <a:prstDash val="solid"/>
          </a:ln>
        </p:spPr>
        <p:txBody>
          <a:bodyPr/>
          <a:lstStyle/>
          <a:p>
            <a:endParaRPr lang="en-IN"/>
          </a:p>
        </p:txBody>
      </p:sp>
      <p:sp>
        <p:nvSpPr>
          <p:cNvPr id="8" name="Notch right"/>
          <p:cNvSpPr/>
          <p:nvPr/>
        </p:nvSpPr>
        <p:spPr>
          <a:xfrm>
            <a:off x="3438144" y="1536192"/>
            <a:ext cx="256032" cy="256032"/>
          </a:xfrm>
          <a:prstGeom prst="ellipse">
            <a:avLst/>
          </a:prstGeom>
          <a:solidFill>
            <a:schemeClr val="tx1"/>
          </a:solidFill>
          <a:ln w="12700">
            <a:solidFill>
              <a:schemeClr val="tx1"/>
            </a:solidFill>
            <a:prstDash val="solid"/>
          </a:ln>
        </p:spPr>
        <p:txBody>
          <a:bodyPr/>
          <a:lstStyle/>
          <a:p>
            <a:endParaRPr lang="en-IN"/>
          </a:p>
        </p:txBody>
      </p:sp>
      <p:sp>
        <p:nvSpPr>
          <p:cNvPr id="9" name="Text 7"/>
          <p:cNvSpPr txBox="1"/>
          <p:nvPr/>
        </p:nvSpPr>
        <p:spPr>
          <a:xfrm>
            <a:off x="685800" y="1819656"/>
            <a:ext cx="2651760" cy="685800"/>
          </a:xfrm>
          <a:prstGeom prst="rect">
            <a:avLst/>
          </a:prstGeom>
          <a:noFill/>
          <a:ln/>
        </p:spPr>
        <p:txBody>
          <a:bodyPr wrap="square" lIns="0" tIns="0" rIns="0" bIns="0" rtlCol="0" anchor="t"/>
          <a:lstStyle/>
          <a:p>
            <a:pPr marL="0" indent="0">
              <a:buNone/>
            </a:pPr>
            <a:r>
              <a:rPr lang="en-US" sz="4800" b="1" dirty="0">
                <a:solidFill>
                  <a:schemeClr val="accent3"/>
                </a:solidFill>
                <a:latin typeface="Cambria" pitchFamily="34" charset="0"/>
                <a:ea typeface="Cambria" pitchFamily="34" charset="-122"/>
                <a:cs typeface="Cambria" pitchFamily="34" charset="-120"/>
              </a:rPr>
              <a:t>3.61</a:t>
            </a:r>
            <a:endParaRPr lang="en-US" sz="4800" dirty="0"/>
          </a:p>
        </p:txBody>
      </p:sp>
      <p:sp>
        <p:nvSpPr>
          <p:cNvPr id="10" name="Text 8"/>
          <p:cNvSpPr txBox="1"/>
          <p:nvPr/>
        </p:nvSpPr>
        <p:spPr>
          <a:xfrm>
            <a:off x="685800" y="2505456"/>
            <a:ext cx="2651760" cy="457200"/>
          </a:xfrm>
          <a:prstGeom prst="rect">
            <a:avLst/>
          </a:prstGeom>
          <a:noFill/>
          <a:ln/>
        </p:spPr>
        <p:txBody>
          <a:bodyPr wrap="square" lIns="0" tIns="0" rIns="0" bIns="0" rtlCol="0" anchor="t"/>
          <a:lstStyle/>
          <a:p>
            <a:pPr marL="0" indent="0">
              <a:buNone/>
            </a:pPr>
            <a:r>
              <a:rPr lang="en-US" sz="1400" dirty="0">
                <a:solidFill>
                  <a:schemeClr val="accent5"/>
                </a:solidFill>
              </a:rPr>
              <a:t>avg rating, satisfied passengers</a:t>
            </a:r>
            <a:endParaRPr lang="en-US" sz="1400" dirty="0"/>
          </a:p>
        </p:txBody>
      </p:sp>
      <p:sp>
        <p:nvSpPr>
          <p:cNvPr id="11" name="Text 9"/>
          <p:cNvSpPr txBox="1"/>
          <p:nvPr/>
        </p:nvSpPr>
        <p:spPr>
          <a:xfrm>
            <a:off x="685800" y="3099816"/>
            <a:ext cx="2651760" cy="685800"/>
          </a:xfrm>
          <a:prstGeom prst="rect">
            <a:avLst/>
          </a:prstGeom>
          <a:noFill/>
          <a:ln/>
        </p:spPr>
        <p:txBody>
          <a:bodyPr wrap="square" lIns="0" tIns="0" rIns="0" bIns="0" rtlCol="0" anchor="t"/>
          <a:lstStyle/>
          <a:p>
            <a:pPr marL="0" indent="0">
              <a:buNone/>
            </a:pPr>
            <a:r>
              <a:rPr lang="en-US" sz="4800" b="1" dirty="0">
                <a:solidFill>
                  <a:schemeClr val="accent1"/>
                </a:solidFill>
                <a:latin typeface="Cambria" pitchFamily="34" charset="0"/>
                <a:ea typeface="Cambria" pitchFamily="34" charset="-122"/>
                <a:cs typeface="Cambria" pitchFamily="34" charset="-120"/>
              </a:rPr>
              <a:t>2.96</a:t>
            </a:r>
            <a:endParaRPr lang="en-US" sz="4800" dirty="0"/>
          </a:p>
        </p:txBody>
      </p:sp>
      <p:sp>
        <p:nvSpPr>
          <p:cNvPr id="12" name="Text 10"/>
          <p:cNvSpPr txBox="1"/>
          <p:nvPr/>
        </p:nvSpPr>
        <p:spPr>
          <a:xfrm>
            <a:off x="685800" y="3785616"/>
            <a:ext cx="2651760" cy="457200"/>
          </a:xfrm>
          <a:prstGeom prst="rect">
            <a:avLst/>
          </a:prstGeom>
          <a:noFill/>
          <a:ln/>
        </p:spPr>
        <p:txBody>
          <a:bodyPr wrap="square" lIns="0" tIns="0" rIns="0" bIns="0" rtlCol="0" anchor="t"/>
          <a:lstStyle/>
          <a:p>
            <a:pPr marL="0" indent="0">
              <a:buNone/>
            </a:pPr>
            <a:r>
              <a:rPr lang="en-US" sz="1400" dirty="0">
                <a:solidFill>
                  <a:schemeClr val="accent5"/>
                </a:solidFill>
              </a:rPr>
              <a:t>avg rating, neutral or dissatisfied</a:t>
            </a:r>
            <a:endParaRPr lang="en-US" sz="1400" dirty="0"/>
          </a:p>
        </p:txBody>
      </p:sp>
      <p:sp>
        <p:nvSpPr>
          <p:cNvPr id="13" name="Ticket card"/>
          <p:cNvSpPr/>
          <p:nvPr/>
        </p:nvSpPr>
        <p:spPr>
          <a:xfrm>
            <a:off x="3794760" y="1188720"/>
            <a:ext cx="4892040" cy="3383280"/>
          </a:xfrm>
          <a:prstGeom prst="roundRect">
            <a:avLst>
              <a:gd name="adj" fmla="val 3243"/>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14" name="Text 12"/>
          <p:cNvSpPr txBox="1"/>
          <p:nvPr/>
        </p:nvSpPr>
        <p:spPr>
          <a:xfrm>
            <a:off x="4023360" y="1298448"/>
            <a:ext cx="3033065"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TOP DRIVERS OF SATISFACTION</a:t>
            </a:r>
            <a:endParaRPr lang="en-US" sz="1000" dirty="0"/>
          </a:p>
        </p:txBody>
      </p:sp>
      <p:sp>
        <p:nvSpPr>
          <p:cNvPr id="15" name="Text 13"/>
          <p:cNvSpPr txBox="1"/>
          <p:nvPr/>
        </p:nvSpPr>
        <p:spPr>
          <a:xfrm>
            <a:off x="6729984" y="1298448"/>
            <a:ext cx="1728216" cy="256032"/>
          </a:xfrm>
          <a:prstGeom prst="rect">
            <a:avLst/>
          </a:prstGeom>
          <a:noFill/>
          <a:ln/>
        </p:spPr>
        <p:txBody>
          <a:bodyPr wrap="square" lIns="0" tIns="0" rIns="0" bIns="0" rtlCol="0" anchor="ctr"/>
          <a:lstStyle/>
          <a:p>
            <a:pPr marL="0" indent="0" algn="r">
              <a:buNone/>
            </a:pPr>
            <a:r>
              <a:rPr lang="en-US" sz="1000" b="1" kern="0" spc="300" dirty="0">
                <a:solidFill>
                  <a:schemeClr val="accent5"/>
                </a:solidFill>
              </a:rPr>
              <a:t>CORRELATION</a:t>
            </a:r>
            <a:endParaRPr lang="en-US" sz="1000" dirty="0"/>
          </a:p>
        </p:txBody>
      </p:sp>
      <p:sp>
        <p:nvSpPr>
          <p:cNvPr id="16" name="Perforation"/>
          <p:cNvSpPr/>
          <p:nvPr/>
        </p:nvSpPr>
        <p:spPr>
          <a:xfrm>
            <a:off x="3977640" y="1664208"/>
            <a:ext cx="4526280" cy="0"/>
          </a:xfrm>
          <a:prstGeom prst="line">
            <a:avLst/>
          </a:prstGeom>
          <a:noFill/>
          <a:ln w="15875">
            <a:solidFill>
              <a:srgbClr val="C9CEE3"/>
            </a:solidFill>
            <a:prstDash val="dash"/>
          </a:ln>
        </p:spPr>
        <p:txBody>
          <a:bodyPr/>
          <a:lstStyle/>
          <a:p>
            <a:endParaRPr lang="en-IN"/>
          </a:p>
        </p:txBody>
      </p:sp>
      <p:sp>
        <p:nvSpPr>
          <p:cNvPr id="17" name="Notch left"/>
          <p:cNvSpPr/>
          <p:nvPr/>
        </p:nvSpPr>
        <p:spPr>
          <a:xfrm>
            <a:off x="3666744" y="1536192"/>
            <a:ext cx="256032" cy="256032"/>
          </a:xfrm>
          <a:prstGeom prst="ellipse">
            <a:avLst/>
          </a:prstGeom>
          <a:solidFill>
            <a:schemeClr val="tx1"/>
          </a:solidFill>
          <a:ln w="12700">
            <a:solidFill>
              <a:schemeClr val="tx1"/>
            </a:solidFill>
            <a:prstDash val="solid"/>
          </a:ln>
        </p:spPr>
        <p:txBody>
          <a:bodyPr/>
          <a:lstStyle/>
          <a:p>
            <a:endParaRPr lang="en-IN"/>
          </a:p>
        </p:txBody>
      </p:sp>
      <p:sp>
        <p:nvSpPr>
          <p:cNvPr id="18" name="Notch right"/>
          <p:cNvSpPr/>
          <p:nvPr/>
        </p:nvSpPr>
        <p:spPr>
          <a:xfrm>
            <a:off x="8558784" y="1536192"/>
            <a:ext cx="256032" cy="256032"/>
          </a:xfrm>
          <a:prstGeom prst="ellipse">
            <a:avLst/>
          </a:prstGeom>
          <a:solidFill>
            <a:schemeClr val="tx1"/>
          </a:solidFill>
          <a:ln w="12700">
            <a:solidFill>
              <a:schemeClr val="tx1"/>
            </a:solidFill>
            <a:prstDash val="solid"/>
          </a:ln>
        </p:spPr>
        <p:txBody>
          <a:bodyPr/>
          <a:lstStyle/>
          <a:p>
            <a:endParaRPr lang="en-IN"/>
          </a:p>
        </p:txBody>
      </p:sp>
      <p:graphicFrame>
        <p:nvGraphicFramePr>
          <p:cNvPr id="19" name="Chart 0"/>
          <p:cNvGraphicFramePr/>
          <p:nvPr/>
        </p:nvGraphicFramePr>
        <p:xfrm>
          <a:off x="3886200" y="1773936"/>
          <a:ext cx="470916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rPr>
              <a:t>Delays: loud signal, softer effect</a:t>
            </a:r>
            <a:endParaRPr lang="en-US" sz="3200" dirty="0"/>
          </a:p>
        </p:txBody>
      </p:sp>
      <p:sp>
        <p:nvSpPr>
          <p:cNvPr id="3" name="Correlation card"/>
          <p:cNvSpPr/>
          <p:nvPr/>
        </p:nvSpPr>
        <p:spPr>
          <a:xfrm>
            <a:off x="457200" y="1188720"/>
            <a:ext cx="3840480" cy="3383280"/>
          </a:xfrm>
          <a:prstGeom prst="roundRect">
            <a:avLst>
              <a:gd name="adj" fmla="val 3243"/>
            </a:avLst>
          </a:prstGeom>
          <a:solidFill>
            <a:schemeClr val="tx2"/>
          </a:solidFill>
          <a:ln w="12700">
            <a:solidFill>
              <a:schemeClr val="tx2"/>
            </a:solidFill>
            <a:prstDash val="solid"/>
          </a:ln>
        </p:spPr>
        <p:txBody>
          <a:bodyPr/>
          <a:lstStyle/>
          <a:p>
            <a:endParaRPr lang="en-IN"/>
          </a:p>
        </p:txBody>
      </p:sp>
      <p:sp>
        <p:nvSpPr>
          <p:cNvPr id="4" name="Text 2"/>
          <p:cNvSpPr txBox="1"/>
          <p:nvPr/>
        </p:nvSpPr>
        <p:spPr>
          <a:xfrm>
            <a:off x="731520" y="1417320"/>
            <a:ext cx="3291840" cy="274320"/>
          </a:xfrm>
          <a:prstGeom prst="rect">
            <a:avLst/>
          </a:prstGeom>
          <a:noFill/>
          <a:ln/>
        </p:spPr>
        <p:txBody>
          <a:bodyPr wrap="square" lIns="0" tIns="0" rIns="0" bIns="0" rtlCol="0" anchor="t"/>
          <a:lstStyle/>
          <a:p>
            <a:pPr marL="0" indent="0">
              <a:buNone/>
            </a:pPr>
            <a:r>
              <a:rPr lang="en-US" sz="1100" b="1" kern="0" spc="300" dirty="0">
                <a:solidFill>
                  <a:schemeClr val="accent4"/>
                </a:solidFill>
              </a:rPr>
              <a:t>DEPARTURE VS ARRIVAL DELAY</a:t>
            </a:r>
            <a:endParaRPr lang="en-US" sz="1100" dirty="0"/>
          </a:p>
        </p:txBody>
      </p:sp>
      <p:sp>
        <p:nvSpPr>
          <p:cNvPr id="5" name="Text 3"/>
          <p:cNvSpPr txBox="1"/>
          <p:nvPr/>
        </p:nvSpPr>
        <p:spPr>
          <a:xfrm>
            <a:off x="731520" y="1828800"/>
            <a:ext cx="3291840" cy="1188720"/>
          </a:xfrm>
          <a:prstGeom prst="rect">
            <a:avLst/>
          </a:prstGeom>
          <a:noFill/>
          <a:ln/>
        </p:spPr>
        <p:txBody>
          <a:bodyPr wrap="square" lIns="0" tIns="0" rIns="0" bIns="0" rtlCol="0" anchor="t"/>
          <a:lstStyle/>
          <a:p>
            <a:pPr marL="0" indent="0">
              <a:buNone/>
            </a:pPr>
            <a:r>
              <a:rPr lang="en-US" sz="8000" b="1" dirty="0">
                <a:solidFill>
                  <a:schemeClr val="accent2"/>
                </a:solidFill>
                <a:latin typeface="Cambria" pitchFamily="34" charset="0"/>
                <a:ea typeface="Cambria" pitchFamily="34" charset="-122"/>
                <a:cs typeface="Cambria" pitchFamily="34" charset="-120"/>
              </a:rPr>
              <a:t>0.96</a:t>
            </a:r>
            <a:endParaRPr lang="en-US" sz="8000" dirty="0"/>
          </a:p>
        </p:txBody>
      </p:sp>
      <p:sp>
        <p:nvSpPr>
          <p:cNvPr id="6" name="Text 4"/>
          <p:cNvSpPr txBox="1"/>
          <p:nvPr/>
        </p:nvSpPr>
        <p:spPr>
          <a:xfrm>
            <a:off x="731520" y="3200400"/>
            <a:ext cx="3291840" cy="1005840"/>
          </a:xfrm>
          <a:prstGeom prst="rect">
            <a:avLst/>
          </a:prstGeom>
          <a:noFill/>
          <a:ln/>
        </p:spPr>
        <p:txBody>
          <a:bodyPr wrap="square" lIns="0" tIns="0" rIns="0" bIns="0" rtlCol="0" anchor="t"/>
          <a:lstStyle/>
          <a:p>
            <a:pPr marL="0" indent="0">
              <a:buNone/>
            </a:pPr>
            <a:r>
              <a:rPr lang="en-US" sz="1400" dirty="0">
                <a:solidFill>
                  <a:schemeClr val="bg1"/>
                </a:solidFill>
              </a:rPr>
              <a:t>correlation between the two delays. A plane that leaves late almost always lands late.</a:t>
            </a:r>
            <a:endParaRPr lang="en-US" sz="1400" dirty="0"/>
          </a:p>
        </p:txBody>
      </p:sp>
      <p:sp>
        <p:nvSpPr>
          <p:cNvPr id="7" name="Ticket card"/>
          <p:cNvSpPr/>
          <p:nvPr/>
        </p:nvSpPr>
        <p:spPr>
          <a:xfrm>
            <a:off x="4572000" y="1188720"/>
            <a:ext cx="4114800" cy="1600200"/>
          </a:xfrm>
          <a:prstGeom prst="roundRect">
            <a:avLst>
              <a:gd name="adj" fmla="val 6857"/>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8" name="Text 6"/>
          <p:cNvSpPr txBox="1"/>
          <p:nvPr/>
        </p:nvSpPr>
        <p:spPr>
          <a:xfrm>
            <a:off x="4800600" y="1298448"/>
            <a:ext cx="365760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LATE = ARRIVAL OVER 15 MIN</a:t>
            </a:r>
            <a:endParaRPr lang="en-US" sz="1000" dirty="0"/>
          </a:p>
        </p:txBody>
      </p:sp>
      <p:sp>
        <p:nvSpPr>
          <p:cNvPr id="9" name="Perforation"/>
          <p:cNvSpPr/>
          <p:nvPr/>
        </p:nvSpPr>
        <p:spPr>
          <a:xfrm>
            <a:off x="4754880" y="1664208"/>
            <a:ext cx="3749040" cy="0"/>
          </a:xfrm>
          <a:prstGeom prst="line">
            <a:avLst/>
          </a:prstGeom>
          <a:noFill/>
          <a:ln w="15875">
            <a:solidFill>
              <a:srgbClr val="C9CEE3"/>
            </a:solidFill>
            <a:prstDash val="dash"/>
          </a:ln>
        </p:spPr>
        <p:txBody>
          <a:bodyPr/>
          <a:lstStyle/>
          <a:p>
            <a:endParaRPr lang="en-IN"/>
          </a:p>
        </p:txBody>
      </p:sp>
      <p:sp>
        <p:nvSpPr>
          <p:cNvPr id="10" name="Notch left"/>
          <p:cNvSpPr/>
          <p:nvPr/>
        </p:nvSpPr>
        <p:spPr>
          <a:xfrm>
            <a:off x="4443984" y="1536192"/>
            <a:ext cx="256032" cy="256032"/>
          </a:xfrm>
          <a:prstGeom prst="ellipse">
            <a:avLst/>
          </a:prstGeom>
          <a:solidFill>
            <a:schemeClr val="tx1"/>
          </a:solidFill>
          <a:ln w="12700">
            <a:solidFill>
              <a:schemeClr val="tx1"/>
            </a:solidFill>
            <a:prstDash val="solid"/>
          </a:ln>
        </p:spPr>
        <p:txBody>
          <a:bodyPr/>
          <a:lstStyle/>
          <a:p>
            <a:endParaRPr lang="en-IN"/>
          </a:p>
        </p:txBody>
      </p:sp>
      <p:sp>
        <p:nvSpPr>
          <p:cNvPr id="11" name="Notch right"/>
          <p:cNvSpPr/>
          <p:nvPr/>
        </p:nvSpPr>
        <p:spPr>
          <a:xfrm>
            <a:off x="8558784" y="1536192"/>
            <a:ext cx="256032" cy="256032"/>
          </a:xfrm>
          <a:prstGeom prst="ellipse">
            <a:avLst/>
          </a:prstGeom>
          <a:solidFill>
            <a:schemeClr val="tx1"/>
          </a:solidFill>
          <a:ln w="12700">
            <a:solidFill>
              <a:schemeClr val="tx1"/>
            </a:solidFill>
            <a:prstDash val="solid"/>
          </a:ln>
        </p:spPr>
        <p:txBody>
          <a:bodyPr/>
          <a:lstStyle/>
          <a:p>
            <a:endParaRPr lang="en-IN"/>
          </a:p>
        </p:txBody>
      </p:sp>
      <p:sp>
        <p:nvSpPr>
          <p:cNvPr id="12" name="Text 10"/>
          <p:cNvSpPr txBox="1"/>
          <p:nvPr/>
        </p:nvSpPr>
        <p:spPr>
          <a:xfrm>
            <a:off x="4800600" y="1865376"/>
            <a:ext cx="1737360" cy="548640"/>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22.9%</a:t>
            </a:r>
            <a:endParaRPr lang="en-US" sz="3400" dirty="0"/>
          </a:p>
        </p:txBody>
      </p:sp>
      <p:sp>
        <p:nvSpPr>
          <p:cNvPr id="13" name="Text 11"/>
          <p:cNvSpPr txBox="1"/>
          <p:nvPr/>
        </p:nvSpPr>
        <p:spPr>
          <a:xfrm>
            <a:off x="6583680" y="1819656"/>
            <a:ext cx="1920240" cy="731520"/>
          </a:xfrm>
          <a:prstGeom prst="rect">
            <a:avLst/>
          </a:prstGeom>
          <a:noFill/>
          <a:ln/>
        </p:spPr>
        <p:txBody>
          <a:bodyPr wrap="square" lIns="0" tIns="0" rIns="0" bIns="0" rtlCol="0" anchor="t"/>
          <a:lstStyle/>
          <a:p>
            <a:pPr marL="0" indent="0">
              <a:buNone/>
            </a:pPr>
            <a:r>
              <a:rPr lang="en-US" sz="1400" dirty="0">
                <a:solidFill>
                  <a:schemeClr val="tx1"/>
                </a:solidFill>
              </a:rPr>
              <a:t>of passengers arrived more than 15 minutes late</a:t>
            </a:r>
            <a:endParaRPr lang="en-US" sz="1400" dirty="0"/>
          </a:p>
        </p:txBody>
      </p:sp>
      <p:sp>
        <p:nvSpPr>
          <p:cNvPr id="14" name="Ticket card"/>
          <p:cNvSpPr/>
          <p:nvPr/>
        </p:nvSpPr>
        <p:spPr>
          <a:xfrm>
            <a:off x="4572000" y="2971800"/>
            <a:ext cx="4114800" cy="1600200"/>
          </a:xfrm>
          <a:prstGeom prst="roundRect">
            <a:avLst>
              <a:gd name="adj" fmla="val 6857"/>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15" name="Text 13"/>
          <p:cNvSpPr txBox="1"/>
          <p:nvPr/>
        </p:nvSpPr>
        <p:spPr>
          <a:xfrm>
            <a:off x="4800600" y="3081528"/>
            <a:ext cx="2551176"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LATE VS ON TIME</a:t>
            </a:r>
            <a:endParaRPr lang="en-US" sz="1000" dirty="0"/>
          </a:p>
        </p:txBody>
      </p:sp>
      <p:sp>
        <p:nvSpPr>
          <p:cNvPr id="16" name="Text 14"/>
          <p:cNvSpPr txBox="1"/>
          <p:nvPr/>
        </p:nvSpPr>
        <p:spPr>
          <a:xfrm>
            <a:off x="7040880" y="3081528"/>
            <a:ext cx="1417320" cy="256032"/>
          </a:xfrm>
          <a:prstGeom prst="rect">
            <a:avLst/>
          </a:prstGeom>
          <a:noFill/>
          <a:ln/>
        </p:spPr>
        <p:txBody>
          <a:bodyPr wrap="square" lIns="0" tIns="0" rIns="0" bIns="0" rtlCol="0" anchor="ctr"/>
          <a:lstStyle/>
          <a:p>
            <a:pPr marL="0" indent="0" algn="r">
              <a:buNone/>
            </a:pPr>
            <a:r>
              <a:rPr lang="en-US" sz="1000" b="1" kern="0" spc="300" dirty="0">
                <a:solidFill>
                  <a:schemeClr val="accent5"/>
                </a:solidFill>
              </a:rPr>
              <a:t>% SATISFIED</a:t>
            </a:r>
            <a:endParaRPr lang="en-US" sz="1000" dirty="0"/>
          </a:p>
        </p:txBody>
      </p:sp>
      <p:sp>
        <p:nvSpPr>
          <p:cNvPr id="17" name="Perforation"/>
          <p:cNvSpPr/>
          <p:nvPr/>
        </p:nvSpPr>
        <p:spPr>
          <a:xfrm>
            <a:off x="4754880" y="3447288"/>
            <a:ext cx="3749040" cy="0"/>
          </a:xfrm>
          <a:prstGeom prst="line">
            <a:avLst/>
          </a:prstGeom>
          <a:noFill/>
          <a:ln w="15875">
            <a:solidFill>
              <a:srgbClr val="C9CEE3"/>
            </a:solidFill>
            <a:prstDash val="dash"/>
          </a:ln>
        </p:spPr>
        <p:txBody>
          <a:bodyPr/>
          <a:lstStyle/>
          <a:p>
            <a:endParaRPr lang="en-IN"/>
          </a:p>
        </p:txBody>
      </p:sp>
      <p:sp>
        <p:nvSpPr>
          <p:cNvPr id="18" name="Notch left"/>
          <p:cNvSpPr/>
          <p:nvPr/>
        </p:nvSpPr>
        <p:spPr>
          <a:xfrm>
            <a:off x="4443984" y="3319272"/>
            <a:ext cx="256032" cy="256032"/>
          </a:xfrm>
          <a:prstGeom prst="ellipse">
            <a:avLst/>
          </a:prstGeom>
          <a:solidFill>
            <a:schemeClr val="tx1"/>
          </a:solidFill>
          <a:ln w="12700">
            <a:solidFill>
              <a:schemeClr val="tx1"/>
            </a:solidFill>
            <a:prstDash val="solid"/>
          </a:ln>
        </p:spPr>
        <p:txBody>
          <a:bodyPr/>
          <a:lstStyle/>
          <a:p>
            <a:endParaRPr lang="en-IN"/>
          </a:p>
        </p:txBody>
      </p:sp>
      <p:sp>
        <p:nvSpPr>
          <p:cNvPr id="19" name="Notch right"/>
          <p:cNvSpPr/>
          <p:nvPr/>
        </p:nvSpPr>
        <p:spPr>
          <a:xfrm>
            <a:off x="8558784" y="3319272"/>
            <a:ext cx="256032" cy="256032"/>
          </a:xfrm>
          <a:prstGeom prst="ellipse">
            <a:avLst/>
          </a:prstGeom>
          <a:solidFill>
            <a:schemeClr val="tx1"/>
          </a:solidFill>
          <a:ln w="12700">
            <a:solidFill>
              <a:schemeClr val="tx1"/>
            </a:solidFill>
            <a:prstDash val="solid"/>
          </a:ln>
        </p:spPr>
        <p:txBody>
          <a:bodyPr/>
          <a:lstStyle/>
          <a:p>
            <a:endParaRPr lang="en-IN"/>
          </a:p>
        </p:txBody>
      </p:sp>
      <p:sp>
        <p:nvSpPr>
          <p:cNvPr id="20" name="Text 18"/>
          <p:cNvSpPr txBox="1"/>
          <p:nvPr/>
        </p:nvSpPr>
        <p:spPr>
          <a:xfrm>
            <a:off x="4800600" y="3648456"/>
            <a:ext cx="1737360" cy="548640"/>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36.8%</a:t>
            </a:r>
            <a:endParaRPr lang="en-US" sz="3400" dirty="0"/>
          </a:p>
        </p:txBody>
      </p:sp>
      <p:sp>
        <p:nvSpPr>
          <p:cNvPr id="21" name="Text 19"/>
          <p:cNvSpPr txBox="1"/>
          <p:nvPr/>
        </p:nvSpPr>
        <p:spPr>
          <a:xfrm>
            <a:off x="6583680" y="3602736"/>
            <a:ext cx="1920240" cy="731520"/>
          </a:xfrm>
          <a:prstGeom prst="rect">
            <a:avLst/>
          </a:prstGeom>
          <a:noFill/>
          <a:ln/>
        </p:spPr>
        <p:txBody>
          <a:bodyPr wrap="square" lIns="0" tIns="0" rIns="0" bIns="0" rtlCol="0" anchor="t"/>
          <a:lstStyle/>
          <a:p>
            <a:pPr marL="0" indent="0">
              <a:buNone/>
            </a:pPr>
            <a:r>
              <a:rPr lang="en-US" sz="1400" dirty="0">
                <a:solidFill>
                  <a:schemeClr val="tx1"/>
                </a:solidFill>
              </a:rPr>
              <a:t>when late, vs 46.0% when on time</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rPr>
              <a:t>Next on the departures board</a:t>
            </a:r>
            <a:endParaRPr lang="en-US" sz="3200" dirty="0"/>
          </a:p>
        </p:txBody>
      </p:sp>
      <p:sp>
        <p:nvSpPr>
          <p:cNvPr id="3" name="Ticket card"/>
          <p:cNvSpPr/>
          <p:nvPr/>
        </p:nvSpPr>
        <p:spPr>
          <a:xfrm>
            <a:off x="457200" y="1143000"/>
            <a:ext cx="4023360" cy="1600200"/>
          </a:xfrm>
          <a:prstGeom prst="roundRect">
            <a:avLst>
              <a:gd name="adj" fmla="val 6857"/>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4" name="Text 2"/>
          <p:cNvSpPr txBox="1"/>
          <p:nvPr/>
        </p:nvSpPr>
        <p:spPr>
          <a:xfrm>
            <a:off x="685800" y="1252728"/>
            <a:ext cx="356616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GATE 1</a:t>
            </a:r>
            <a:endParaRPr lang="en-US" sz="1000" dirty="0"/>
          </a:p>
        </p:txBody>
      </p:sp>
      <p:sp>
        <p:nvSpPr>
          <p:cNvPr id="5" name="Perforation"/>
          <p:cNvSpPr/>
          <p:nvPr/>
        </p:nvSpPr>
        <p:spPr>
          <a:xfrm>
            <a:off x="640080" y="1618488"/>
            <a:ext cx="3657600" cy="0"/>
          </a:xfrm>
          <a:prstGeom prst="line">
            <a:avLst/>
          </a:prstGeom>
          <a:noFill/>
          <a:ln w="15875">
            <a:solidFill>
              <a:srgbClr val="C9CEE3"/>
            </a:solidFill>
            <a:prstDash val="dash"/>
          </a:ln>
        </p:spPr>
        <p:txBody>
          <a:bodyPr/>
          <a:lstStyle/>
          <a:p>
            <a:endParaRPr lang="en-IN"/>
          </a:p>
        </p:txBody>
      </p:sp>
      <p:sp>
        <p:nvSpPr>
          <p:cNvPr id="6" name="Notch left"/>
          <p:cNvSpPr/>
          <p:nvPr/>
        </p:nvSpPr>
        <p:spPr>
          <a:xfrm>
            <a:off x="329184" y="1490472"/>
            <a:ext cx="256032" cy="256032"/>
          </a:xfrm>
          <a:prstGeom prst="ellipse">
            <a:avLst/>
          </a:prstGeom>
          <a:solidFill>
            <a:schemeClr val="tx1"/>
          </a:solidFill>
          <a:ln w="12700">
            <a:solidFill>
              <a:schemeClr val="tx1"/>
            </a:solidFill>
            <a:prstDash val="solid"/>
          </a:ln>
        </p:spPr>
        <p:txBody>
          <a:bodyPr/>
          <a:lstStyle/>
          <a:p>
            <a:endParaRPr lang="en-IN"/>
          </a:p>
        </p:txBody>
      </p:sp>
      <p:sp>
        <p:nvSpPr>
          <p:cNvPr id="7" name="Notch right"/>
          <p:cNvSpPr/>
          <p:nvPr/>
        </p:nvSpPr>
        <p:spPr>
          <a:xfrm>
            <a:off x="4352544" y="1490472"/>
            <a:ext cx="256032" cy="256032"/>
          </a:xfrm>
          <a:prstGeom prst="ellipse">
            <a:avLst/>
          </a:prstGeom>
          <a:solidFill>
            <a:schemeClr val="tx1"/>
          </a:solidFill>
          <a:ln w="12700">
            <a:solidFill>
              <a:schemeClr val="tx1"/>
            </a:solidFill>
            <a:prstDash val="solid"/>
          </a:ln>
        </p:spPr>
        <p:txBody>
          <a:bodyPr/>
          <a:lstStyle/>
          <a:p>
            <a:endParaRPr lang="en-IN"/>
          </a:p>
        </p:txBody>
      </p:sp>
      <p:sp>
        <p:nvSpPr>
          <p:cNvPr id="8" name="Text 6"/>
          <p:cNvSpPr txBox="1"/>
          <p:nvPr/>
        </p:nvSpPr>
        <p:spPr>
          <a:xfrm>
            <a:off x="685800" y="1773936"/>
            <a:ext cx="356616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Fix Wi-Fi and online booking</a:t>
            </a:r>
            <a:endParaRPr lang="en-US" sz="1800" dirty="0"/>
          </a:p>
        </p:txBody>
      </p:sp>
      <p:sp>
        <p:nvSpPr>
          <p:cNvPr id="9" name="Text 7"/>
          <p:cNvSpPr txBox="1"/>
          <p:nvPr/>
        </p:nvSpPr>
        <p:spPr>
          <a:xfrm>
            <a:off x="685800" y="2185416"/>
            <a:ext cx="3566160" cy="502920"/>
          </a:xfrm>
          <a:prstGeom prst="rect">
            <a:avLst/>
          </a:prstGeom>
          <a:noFill/>
          <a:ln/>
        </p:spPr>
        <p:txBody>
          <a:bodyPr wrap="square" lIns="0" tIns="0" rIns="0" bIns="0" rtlCol="0" anchor="t"/>
          <a:lstStyle/>
          <a:p>
            <a:pPr marL="0" indent="0">
              <a:buNone/>
            </a:pPr>
            <a:r>
              <a:rPr lang="en-US" sz="1400" dirty="0">
                <a:solidFill>
                  <a:schemeClr val="accent5"/>
                </a:solidFill>
              </a:rPr>
              <a:t>Lowest-rated services: 2.72 and 2.76 out of 5.</a:t>
            </a:r>
            <a:endParaRPr lang="en-US" sz="1400" dirty="0"/>
          </a:p>
        </p:txBody>
      </p:sp>
      <p:sp>
        <p:nvSpPr>
          <p:cNvPr id="10" name="Ticket card"/>
          <p:cNvSpPr/>
          <p:nvPr/>
        </p:nvSpPr>
        <p:spPr>
          <a:xfrm>
            <a:off x="4663440" y="1143000"/>
            <a:ext cx="4023360" cy="1600200"/>
          </a:xfrm>
          <a:prstGeom prst="roundRect">
            <a:avLst>
              <a:gd name="adj" fmla="val 6857"/>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11" name="Text 9"/>
          <p:cNvSpPr txBox="1"/>
          <p:nvPr/>
        </p:nvSpPr>
        <p:spPr>
          <a:xfrm>
            <a:off x="4892040" y="1252728"/>
            <a:ext cx="356616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GATE 2</a:t>
            </a:r>
            <a:endParaRPr lang="en-US" sz="1000" dirty="0"/>
          </a:p>
        </p:txBody>
      </p:sp>
      <p:sp>
        <p:nvSpPr>
          <p:cNvPr id="12" name="Perforation"/>
          <p:cNvSpPr/>
          <p:nvPr/>
        </p:nvSpPr>
        <p:spPr>
          <a:xfrm>
            <a:off x="4846320" y="1618488"/>
            <a:ext cx="3657600" cy="0"/>
          </a:xfrm>
          <a:prstGeom prst="line">
            <a:avLst/>
          </a:prstGeom>
          <a:noFill/>
          <a:ln w="15875">
            <a:solidFill>
              <a:srgbClr val="C9CEE3"/>
            </a:solidFill>
            <a:prstDash val="dash"/>
          </a:ln>
        </p:spPr>
        <p:txBody>
          <a:bodyPr/>
          <a:lstStyle/>
          <a:p>
            <a:endParaRPr lang="en-IN"/>
          </a:p>
        </p:txBody>
      </p:sp>
      <p:sp>
        <p:nvSpPr>
          <p:cNvPr id="13" name="Notch left"/>
          <p:cNvSpPr/>
          <p:nvPr/>
        </p:nvSpPr>
        <p:spPr>
          <a:xfrm>
            <a:off x="4535424" y="1490472"/>
            <a:ext cx="256032" cy="256032"/>
          </a:xfrm>
          <a:prstGeom prst="ellipse">
            <a:avLst/>
          </a:prstGeom>
          <a:solidFill>
            <a:schemeClr val="tx1"/>
          </a:solidFill>
          <a:ln w="12700">
            <a:solidFill>
              <a:schemeClr val="tx1"/>
            </a:solidFill>
            <a:prstDash val="solid"/>
          </a:ln>
        </p:spPr>
        <p:txBody>
          <a:bodyPr/>
          <a:lstStyle/>
          <a:p>
            <a:endParaRPr lang="en-IN"/>
          </a:p>
        </p:txBody>
      </p:sp>
      <p:sp>
        <p:nvSpPr>
          <p:cNvPr id="14" name="Notch right"/>
          <p:cNvSpPr/>
          <p:nvPr/>
        </p:nvSpPr>
        <p:spPr>
          <a:xfrm>
            <a:off x="8558784" y="1490472"/>
            <a:ext cx="256032" cy="256032"/>
          </a:xfrm>
          <a:prstGeom prst="ellipse">
            <a:avLst/>
          </a:prstGeom>
          <a:solidFill>
            <a:schemeClr val="tx1"/>
          </a:solidFill>
          <a:ln w="12700">
            <a:solidFill>
              <a:schemeClr val="tx1"/>
            </a:solidFill>
            <a:prstDash val="solid"/>
          </a:ln>
        </p:spPr>
        <p:txBody>
          <a:bodyPr/>
          <a:lstStyle/>
          <a:p>
            <a:endParaRPr lang="en-IN"/>
          </a:p>
        </p:txBody>
      </p:sp>
      <p:sp>
        <p:nvSpPr>
          <p:cNvPr id="15" name="Text 13"/>
          <p:cNvSpPr txBox="1"/>
          <p:nvPr/>
        </p:nvSpPr>
        <p:spPr>
          <a:xfrm>
            <a:off x="4892040" y="1773936"/>
            <a:ext cx="356616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Perfect online boarding</a:t>
            </a:r>
            <a:endParaRPr lang="en-US" sz="1800" dirty="0"/>
          </a:p>
        </p:txBody>
      </p:sp>
      <p:sp>
        <p:nvSpPr>
          <p:cNvPr id="16" name="Text 14"/>
          <p:cNvSpPr txBox="1"/>
          <p:nvPr/>
        </p:nvSpPr>
        <p:spPr>
          <a:xfrm>
            <a:off x="4892040" y="2185416"/>
            <a:ext cx="3566160" cy="502920"/>
          </a:xfrm>
          <a:prstGeom prst="rect">
            <a:avLst/>
          </a:prstGeom>
          <a:noFill/>
          <a:ln/>
        </p:spPr>
        <p:txBody>
          <a:bodyPr wrap="square" lIns="0" tIns="0" rIns="0" bIns="0" rtlCol="0" anchor="t"/>
          <a:lstStyle/>
          <a:p>
            <a:pPr marL="0" indent="0">
              <a:buNone/>
            </a:pPr>
            <a:r>
              <a:rPr lang="en-US" sz="1400" dirty="0">
                <a:solidFill>
                  <a:schemeClr val="accent5"/>
                </a:solidFill>
              </a:rPr>
              <a:t>Strongest link to satisfaction (0.49), then entertainment.</a:t>
            </a:r>
            <a:endParaRPr lang="en-US" sz="1400" dirty="0"/>
          </a:p>
        </p:txBody>
      </p:sp>
      <p:sp>
        <p:nvSpPr>
          <p:cNvPr id="17" name="Ticket card"/>
          <p:cNvSpPr/>
          <p:nvPr/>
        </p:nvSpPr>
        <p:spPr>
          <a:xfrm>
            <a:off x="457200" y="2926080"/>
            <a:ext cx="4023360" cy="1600200"/>
          </a:xfrm>
          <a:prstGeom prst="roundRect">
            <a:avLst>
              <a:gd name="adj" fmla="val 6857"/>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18" name="Text 16"/>
          <p:cNvSpPr txBox="1"/>
          <p:nvPr/>
        </p:nvSpPr>
        <p:spPr>
          <a:xfrm>
            <a:off x="685800" y="3035808"/>
            <a:ext cx="356616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GATE 3</a:t>
            </a:r>
            <a:endParaRPr lang="en-US" sz="1000" dirty="0"/>
          </a:p>
        </p:txBody>
      </p:sp>
      <p:sp>
        <p:nvSpPr>
          <p:cNvPr id="19" name="Perforation"/>
          <p:cNvSpPr/>
          <p:nvPr/>
        </p:nvSpPr>
        <p:spPr>
          <a:xfrm>
            <a:off x="640080" y="3401568"/>
            <a:ext cx="3657600" cy="0"/>
          </a:xfrm>
          <a:prstGeom prst="line">
            <a:avLst/>
          </a:prstGeom>
          <a:noFill/>
          <a:ln w="15875">
            <a:solidFill>
              <a:srgbClr val="C9CEE3"/>
            </a:solidFill>
            <a:prstDash val="dash"/>
          </a:ln>
        </p:spPr>
        <p:txBody>
          <a:bodyPr/>
          <a:lstStyle/>
          <a:p>
            <a:endParaRPr lang="en-IN"/>
          </a:p>
        </p:txBody>
      </p:sp>
      <p:sp>
        <p:nvSpPr>
          <p:cNvPr id="20" name="Notch left"/>
          <p:cNvSpPr/>
          <p:nvPr/>
        </p:nvSpPr>
        <p:spPr>
          <a:xfrm>
            <a:off x="329184" y="3273552"/>
            <a:ext cx="256032" cy="256032"/>
          </a:xfrm>
          <a:prstGeom prst="ellipse">
            <a:avLst/>
          </a:prstGeom>
          <a:solidFill>
            <a:schemeClr val="tx1"/>
          </a:solidFill>
          <a:ln w="12700">
            <a:solidFill>
              <a:schemeClr val="tx1"/>
            </a:solidFill>
            <a:prstDash val="solid"/>
          </a:ln>
        </p:spPr>
        <p:txBody>
          <a:bodyPr/>
          <a:lstStyle/>
          <a:p>
            <a:endParaRPr lang="en-IN"/>
          </a:p>
        </p:txBody>
      </p:sp>
      <p:sp>
        <p:nvSpPr>
          <p:cNvPr id="21" name="Notch right"/>
          <p:cNvSpPr/>
          <p:nvPr/>
        </p:nvSpPr>
        <p:spPr>
          <a:xfrm>
            <a:off x="4352544" y="3273552"/>
            <a:ext cx="256032" cy="256032"/>
          </a:xfrm>
          <a:prstGeom prst="ellipse">
            <a:avLst/>
          </a:prstGeom>
          <a:solidFill>
            <a:schemeClr val="tx1"/>
          </a:solidFill>
          <a:ln w="12700">
            <a:solidFill>
              <a:schemeClr val="tx1"/>
            </a:solidFill>
            <a:prstDash val="solid"/>
          </a:ln>
        </p:spPr>
        <p:txBody>
          <a:bodyPr/>
          <a:lstStyle/>
          <a:p>
            <a:endParaRPr lang="en-IN"/>
          </a:p>
        </p:txBody>
      </p:sp>
      <p:sp>
        <p:nvSpPr>
          <p:cNvPr id="22" name="Text 20"/>
          <p:cNvSpPr txBox="1"/>
          <p:nvPr/>
        </p:nvSpPr>
        <p:spPr>
          <a:xfrm>
            <a:off x="685800" y="3557016"/>
            <a:ext cx="356616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Lift the Economy experience</a:t>
            </a:r>
            <a:endParaRPr lang="en-US" sz="1800" dirty="0"/>
          </a:p>
        </p:txBody>
      </p:sp>
      <p:sp>
        <p:nvSpPr>
          <p:cNvPr id="23" name="Text 21"/>
          <p:cNvSpPr txBox="1"/>
          <p:nvPr/>
        </p:nvSpPr>
        <p:spPr>
          <a:xfrm>
            <a:off x="685800" y="3968496"/>
            <a:ext cx="3566160" cy="502920"/>
          </a:xfrm>
          <a:prstGeom prst="rect">
            <a:avLst/>
          </a:prstGeom>
          <a:noFill/>
          <a:ln/>
        </p:spPr>
        <p:txBody>
          <a:bodyPr wrap="square" lIns="0" tIns="0" rIns="0" bIns="0" rtlCol="0" anchor="t"/>
          <a:lstStyle/>
          <a:p>
            <a:pPr marL="0" indent="0">
              <a:buNone/>
            </a:pPr>
            <a:r>
              <a:rPr lang="en-US" sz="1400" dirty="0">
                <a:solidFill>
                  <a:schemeClr val="accent5"/>
                </a:solidFill>
              </a:rPr>
              <a:t>Only 19.4% satisfied vs 69.5% in Business.</a:t>
            </a:r>
            <a:endParaRPr lang="en-US" sz="1400" dirty="0"/>
          </a:p>
        </p:txBody>
      </p:sp>
      <p:sp>
        <p:nvSpPr>
          <p:cNvPr id="24" name="Ticket card"/>
          <p:cNvSpPr/>
          <p:nvPr/>
        </p:nvSpPr>
        <p:spPr>
          <a:xfrm>
            <a:off x="4663440" y="2926080"/>
            <a:ext cx="4023360" cy="1600200"/>
          </a:xfrm>
          <a:prstGeom prst="roundRect">
            <a:avLst>
              <a:gd name="adj" fmla="val 6857"/>
            </a:avLst>
          </a:prstGeom>
          <a:solidFill>
            <a:schemeClr val="bg1"/>
          </a:solidFill>
          <a:ln w="12700">
            <a:solidFill>
              <a:schemeClr val="bg1"/>
            </a:solidFill>
            <a:prstDash val="solid"/>
          </a:ln>
          <a:effectLst>
            <a:outerShdw blurRad="177800" dist="38100" dir="5400000" algn="bl" rotWithShape="0">
              <a:srgbClr val="000000">
                <a:alpha val="35000"/>
              </a:srgbClr>
            </a:outerShdw>
          </a:effectLst>
        </p:spPr>
        <p:txBody>
          <a:bodyPr/>
          <a:lstStyle/>
          <a:p>
            <a:endParaRPr lang="en-IN"/>
          </a:p>
        </p:txBody>
      </p:sp>
      <p:sp>
        <p:nvSpPr>
          <p:cNvPr id="25" name="Text 23"/>
          <p:cNvSpPr txBox="1"/>
          <p:nvPr/>
        </p:nvSpPr>
        <p:spPr>
          <a:xfrm>
            <a:off x="4892040" y="3035808"/>
            <a:ext cx="3566160" cy="256032"/>
          </a:xfrm>
          <a:prstGeom prst="rect">
            <a:avLst/>
          </a:prstGeom>
          <a:noFill/>
          <a:ln/>
        </p:spPr>
        <p:txBody>
          <a:bodyPr wrap="square" lIns="0" tIns="0" rIns="0" bIns="0" rtlCol="0" anchor="ctr"/>
          <a:lstStyle/>
          <a:p>
            <a:pPr marL="0" indent="0">
              <a:buNone/>
            </a:pPr>
            <a:r>
              <a:rPr lang="en-US" sz="1000" b="1" kern="0" spc="300" dirty="0">
                <a:solidFill>
                  <a:schemeClr val="accent5"/>
                </a:solidFill>
              </a:rPr>
              <a:t>GATE 4</a:t>
            </a:r>
            <a:endParaRPr lang="en-US" sz="1000" dirty="0"/>
          </a:p>
        </p:txBody>
      </p:sp>
      <p:sp>
        <p:nvSpPr>
          <p:cNvPr id="26" name="Perforation"/>
          <p:cNvSpPr/>
          <p:nvPr/>
        </p:nvSpPr>
        <p:spPr>
          <a:xfrm>
            <a:off x="4846320" y="3401568"/>
            <a:ext cx="3657600" cy="0"/>
          </a:xfrm>
          <a:prstGeom prst="line">
            <a:avLst/>
          </a:prstGeom>
          <a:noFill/>
          <a:ln w="15875">
            <a:solidFill>
              <a:srgbClr val="C9CEE3"/>
            </a:solidFill>
            <a:prstDash val="dash"/>
          </a:ln>
        </p:spPr>
        <p:txBody>
          <a:bodyPr/>
          <a:lstStyle/>
          <a:p>
            <a:endParaRPr lang="en-IN"/>
          </a:p>
        </p:txBody>
      </p:sp>
      <p:sp>
        <p:nvSpPr>
          <p:cNvPr id="27" name="Notch left"/>
          <p:cNvSpPr/>
          <p:nvPr/>
        </p:nvSpPr>
        <p:spPr>
          <a:xfrm>
            <a:off x="4535424" y="3273552"/>
            <a:ext cx="256032" cy="256032"/>
          </a:xfrm>
          <a:prstGeom prst="ellipse">
            <a:avLst/>
          </a:prstGeom>
          <a:solidFill>
            <a:schemeClr val="tx1"/>
          </a:solidFill>
          <a:ln w="12700">
            <a:solidFill>
              <a:schemeClr val="tx1"/>
            </a:solidFill>
            <a:prstDash val="solid"/>
          </a:ln>
        </p:spPr>
        <p:txBody>
          <a:bodyPr/>
          <a:lstStyle/>
          <a:p>
            <a:endParaRPr lang="en-IN"/>
          </a:p>
        </p:txBody>
      </p:sp>
      <p:sp>
        <p:nvSpPr>
          <p:cNvPr id="28" name="Notch right"/>
          <p:cNvSpPr/>
          <p:nvPr/>
        </p:nvSpPr>
        <p:spPr>
          <a:xfrm>
            <a:off x="8558784" y="3273552"/>
            <a:ext cx="256032" cy="256032"/>
          </a:xfrm>
          <a:prstGeom prst="ellipse">
            <a:avLst/>
          </a:prstGeom>
          <a:solidFill>
            <a:schemeClr val="tx1"/>
          </a:solidFill>
          <a:ln w="12700">
            <a:solidFill>
              <a:schemeClr val="tx1"/>
            </a:solidFill>
            <a:prstDash val="solid"/>
          </a:ln>
        </p:spPr>
        <p:txBody>
          <a:bodyPr/>
          <a:lstStyle/>
          <a:p>
            <a:endParaRPr lang="en-IN"/>
          </a:p>
        </p:txBody>
      </p:sp>
      <p:sp>
        <p:nvSpPr>
          <p:cNvPr id="29" name="Text 27"/>
          <p:cNvSpPr txBox="1"/>
          <p:nvPr/>
        </p:nvSpPr>
        <p:spPr>
          <a:xfrm>
            <a:off x="4892040" y="3557016"/>
            <a:ext cx="356616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Win over personal and new flyers</a:t>
            </a:r>
            <a:endParaRPr lang="en-US" sz="1800" dirty="0"/>
          </a:p>
        </p:txBody>
      </p:sp>
      <p:sp>
        <p:nvSpPr>
          <p:cNvPr id="30" name="Text 28"/>
          <p:cNvSpPr txBox="1"/>
          <p:nvPr/>
        </p:nvSpPr>
        <p:spPr>
          <a:xfrm>
            <a:off x="4892040" y="3968496"/>
            <a:ext cx="3566160" cy="502920"/>
          </a:xfrm>
          <a:prstGeom prst="rect">
            <a:avLst/>
          </a:prstGeom>
          <a:noFill/>
          <a:ln/>
        </p:spPr>
        <p:txBody>
          <a:bodyPr wrap="square" lIns="0" tIns="0" rIns="0" bIns="0" rtlCol="0" anchor="t"/>
          <a:lstStyle/>
          <a:p>
            <a:pPr marL="0" indent="0">
              <a:buNone/>
            </a:pPr>
            <a:r>
              <a:rPr lang="en-US" sz="1400" dirty="0">
                <a:solidFill>
                  <a:schemeClr val="accent5"/>
                </a:solidFill>
              </a:rPr>
              <a:t>Personal trips 10.0% and disloyal customers 25.2% satisfied.</a:t>
            </a:r>
            <a:endParaRPr lang="en-US" sz="1400" dirty="0"/>
          </a:p>
        </p:txBody>
      </p:sp>
      <p:sp>
        <p:nvSpPr>
          <p:cNvPr id="31"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Night Flight">
  <a:themeElements>
    <a:clrScheme name="Night Flight">
      <a:dk1>
        <a:srgbClr val="0E1330"/>
      </a:dk1>
      <a:lt1>
        <a:srgbClr val="FFFFFF"/>
      </a:lt1>
      <a:dk2>
        <a:srgbClr val="1B2250"/>
      </a:dk2>
      <a:lt2>
        <a:srgbClr val="EEF0F7"/>
      </a:lt2>
      <a:accent1>
        <a:srgbClr val="FF5A3C"/>
      </a:accent1>
      <a:accent2>
        <a:srgbClr val="FFB020"/>
      </a:accent2>
      <a:accent3>
        <a:srgbClr val="0F9D8C"/>
      </a:accent3>
      <a:accent4>
        <a:srgbClr val="8C9EFF"/>
      </a:accent4>
      <a:accent5>
        <a:srgbClr val="5B6489"/>
      </a:accent5>
      <a:accent6>
        <a:srgbClr val="2BB673"/>
      </a:accent6>
      <a:hlink>
        <a:srgbClr val="FFB020"/>
      </a:hlink>
      <a:folHlink>
        <a:srgbClr val="8C9EFF"/>
      </a:folHlink>
    </a:clrScheme>
    <a:fontScheme name="Night F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947</Words>
  <Application>Microsoft Office PowerPoint</Application>
  <PresentationFormat>On-screen Show (16:9)</PresentationFormat>
  <Paragraphs>160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Night Flight</vt:lpstr>
      <vt:lpstr>Airline Customer Satisfaction </vt:lpstr>
      <vt:lpstr>Pre-flight check: what we flew with</vt:lpstr>
      <vt:lpstr>The clean-up flight path</vt:lpstr>
      <vt:lpstr>Only 43.9% landed satisfied</vt:lpstr>
      <vt:lpstr>Wi-Fi and booking pull the score down</vt:lpstr>
      <vt:lpstr>Where you sit decides the mood</vt:lpstr>
      <vt:lpstr>Loyalty and purpose of travel matter</vt:lpstr>
      <vt:lpstr>What really moves satisfaction</vt:lpstr>
      <vt:lpstr>Delays: loud signal, softer effect</vt:lpstr>
      <vt:lpstr>Next on the departures board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Customer Satisfaction</dc:title>
  <dc:subject>PptxGenJS Presentation</dc:subject>
  <dc:creator>Data Analysis Project</dc:creator>
  <cp:lastModifiedBy>S0010019</cp:lastModifiedBy>
  <cp:revision>4</cp:revision>
  <dcterms:created xsi:type="dcterms:W3CDTF">2026-10-03T07:32:27Z</dcterms:created>
  <dcterms:modified xsi:type="dcterms:W3CDTF">2026-10-03T08:00:36Z</dcterms:modified>
</cp:coreProperties>
</file>